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70A99A0-5CB9-441D-BFE0-C88F14C61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E0E589AF-5F48-4E64-886A-6D07F0EBF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6BF6AB8-CA2E-4950-8FE3-49BC9EBE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AF97A07-AE58-4C89-A1E5-579C8776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FAC8275-4691-403F-8DBB-CB32138F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07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D6F8524-9F6A-44D2-BF69-E6C225DA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476BFE3-E5B2-40E7-8174-65A26F2FF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09ECC04-C7D3-4CBA-97FF-D741B724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F895F1D3-F9A2-46F9-ADFA-D4717E02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2DD459-937D-4297-8394-F305C3CE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47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6263183-7933-4B94-BD32-C2507BF5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61A3C945-074C-4A57-9727-1C4A003E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8123E600-27A8-4E08-8F71-1422DC20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FF7A1D47-C7EF-4F03-A4A9-2F7730F2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EB2B4D06-6A09-4530-95CA-5D79002C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37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518137B-F16A-4CFB-9FCF-93B7FAA3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228492A-80EA-4D42-8015-DA016D722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E7A9A15-5C2F-4CD1-B159-E0C07EA3A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BD2665CF-F4A7-43F3-A972-7A771F0D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49B330C-FC0A-444A-98E1-F4BB670E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40EEDAE-0FFD-41EA-843C-82D546F8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6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1E11020-F2A5-43AD-84F5-E7578FAD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254746B9-B28C-414C-9F3F-FFCD1A22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1CD25EA7-4C3E-4D7B-9365-52C6A719D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8F9BE67E-28E1-4EFB-964F-3E98F4088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68CDE0FB-C67C-4784-8029-720634853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9533A258-C5A6-42D7-96E1-1088DCD5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8B542B55-ED93-4109-9E6A-B67724A0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1FDD6F60-F223-4FDE-B051-E61B4373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65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A158317-A675-4BCA-9FB4-8C163E60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593697FC-856A-48E2-B349-150C2B32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BDD64469-7389-4C0B-ABFA-A4A5B758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B22125AB-C8A5-44C2-A2B0-C86E07E8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05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5813D28D-68E5-441E-B579-D7541345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9552B6E1-EF2C-4ED6-85A6-50FC272A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3CA7D812-FAB0-461D-9ED4-58E78D3A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07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44ADEAB-01B9-4E5B-89DF-21ACDF57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6FAE5815-93EF-44E1-A9F4-9E494125D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4A44F126-4D3E-497F-B180-372F9F376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AD9A4D3A-E1DF-4156-B19F-80C463F4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4D4F95E4-EF4E-41FD-908D-BEC6E12B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66D9C970-4B0B-4A9F-AF47-E4E401B1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45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E06A4E1-E519-4403-9246-49C3A2D4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85BF91BF-0984-4782-B24B-862C93FBD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AEDBB27D-1ED2-49B0-9A0A-1A8D624F8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0695BE1E-A04F-48A3-BBAA-37204446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597D049-48C1-4C69-8433-9074CE50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727744C2-376C-4C5C-80E8-B75ED71B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8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5AD3597-A551-47F9-AE4E-863D374E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06878FB-504B-46B1-97FA-D730FD7FC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FD092BD-0572-4F29-BE37-76B7E57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3CF86901-3E6C-41BB-B8B0-E10ADEFD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47A2333-5E89-42DA-A93F-0A76B3FA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03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5CA2AE9B-EAA6-44FC-A90C-47A32B0D8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66582FE-B73A-4EDF-BD2D-989AC66D1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87C40FA9-4C4A-479F-A797-512F19D8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70F93382-C79C-4E0D-96BB-3B3D70AFE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8183B6F-10DF-4678-B1A1-E8322BFE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1DBE2C51-E75B-4797-AFB8-C1E08038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5C0493FF-ACBE-401B-B2F9-290DD9897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F1053BB5-ED99-43DE-9CAD-178D3FF2B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B0B34-2ED8-43F7-AE4F-A96AC4D4720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19BBF3E1-9D66-46D4-9846-84AE3B7FF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6FEDCA3-F7E3-451E-BF68-D5C308420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E38EC-5F2D-4EA7-BFDF-A6E956C11C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21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47F8A14-E144-49D3-A447-20D97AB346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1759067-2CC7-4A34-A20A-CD19A4A9D017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84D443E8-B530-4D96-B28A-77FDA225D7E3}"/>
              </a:ext>
            </a:extLst>
          </p:cNvPr>
          <p:cNvSpPr txBox="1"/>
          <p:nvPr/>
        </p:nvSpPr>
        <p:spPr>
          <a:xfrm>
            <a:off x="431800" y="228600"/>
            <a:ext cx="53340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APSCE · FESTIVAL OF LEARNING 2026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8FB62567-B2F2-4918-B6CA-64C5457F7764}"/>
              </a:ext>
            </a:extLst>
          </p:cNvPr>
          <p:cNvSpPr txBox="1"/>
          <p:nvPr/>
        </p:nvSpPr>
        <p:spPr>
          <a:xfrm>
            <a:off x="9702800" y="228600"/>
            <a:ext cx="2032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1000">
                <a:solidFill>
                  <a:srgbClr val="FFFFFF"/>
                </a:solidFill>
                <a:latin typeface="Calibri" panose="020F0502020204030204" pitchFamily="34" charset="0"/>
              </a:rPr>
              <a:t>Kumamoto, Japan</a:t>
            </a:r>
            <a:endParaRPr lang="zh-TW" altLang="en-US" sz="10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2E723422-3E1B-40F3-943A-AEFE12212F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1219200"/>
            <a:ext cx="1955800" cy="274320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xmlns="" id="{7ADFAF53-8211-4D75-92E9-8069413B5348}"/>
              </a:ext>
            </a:extLst>
          </p:cNvPr>
          <p:cNvSpPr/>
          <p:nvPr/>
        </p:nvSpPr>
        <p:spPr>
          <a:xfrm>
            <a:off x="635000" y="1524000"/>
            <a:ext cx="7620000" cy="3175000"/>
          </a:xfrm>
          <a:prstGeom prst="round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D2F576E-0EFA-4631-A236-0CD27EF9D2F0}"/>
              </a:ext>
            </a:extLst>
          </p:cNvPr>
          <p:cNvSpPr/>
          <p:nvPr/>
        </p:nvSpPr>
        <p:spPr>
          <a:xfrm>
            <a:off x="635000" y="1524000"/>
            <a:ext cx="101600" cy="31750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1DB86077-5237-439E-B189-B2FC7072DB2A}"/>
              </a:ext>
            </a:extLst>
          </p:cNvPr>
          <p:cNvSpPr txBox="1"/>
          <p:nvPr/>
        </p:nvSpPr>
        <p:spPr>
          <a:xfrm>
            <a:off x="990600" y="1879600"/>
            <a:ext cx="6731000" cy="138499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2800" b="1">
                <a:solidFill>
                  <a:srgbClr val="FFFFFF"/>
                </a:solidFill>
                <a:latin typeface="Calibri" panose="020F0502020204030204" pitchFamily="34" charset="0"/>
              </a:rPr>
              <a:t>Effects of Integrating an AI Learning Companion into a Self-Regulated Learning 4L Framework</a:t>
            </a:r>
            <a:endParaRPr lang="zh-TW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28C71634-FB51-4E44-9934-F4D1160A22D4}"/>
              </a:ext>
            </a:extLst>
          </p:cNvPr>
          <p:cNvSpPr txBox="1"/>
          <p:nvPr/>
        </p:nvSpPr>
        <p:spPr>
          <a:xfrm>
            <a:off x="990600" y="3225800"/>
            <a:ext cx="67310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2400" b="1">
                <a:solidFill>
                  <a:srgbClr val="FFFFFF"/>
                </a:solidFill>
                <a:latin typeface="Calibri" panose="020F0502020204030204" pitchFamily="34" charset="0"/>
              </a:rPr>
              <a:t>on Elementary Mathematics Learning</a:t>
            </a:r>
            <a:endParaRPr lang="zh-TW" altLang="en-US" sz="2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AB8BE4ED-78B4-44EE-B958-0F9C9B0F57C4}"/>
              </a:ext>
            </a:extLst>
          </p:cNvPr>
          <p:cNvSpPr txBox="1"/>
          <p:nvPr/>
        </p:nvSpPr>
        <p:spPr>
          <a:xfrm>
            <a:off x="990600" y="3886200"/>
            <a:ext cx="66040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500">
                <a:solidFill>
                  <a:srgbClr val="DD8F1C"/>
                </a:solidFill>
                <a:latin typeface="Calibri" panose="020F0502020204030204" pitchFamily="34" charset="0"/>
              </a:rPr>
              <a:t>A quasi-experimental study on TALPer-supported SRL in fifth grade</a:t>
            </a:r>
            <a:endParaRPr lang="zh-TW" altLang="en-US" sz="1500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3ED74177-1415-4C3E-94E4-7131B24DFCD8}"/>
              </a:ext>
            </a:extLst>
          </p:cNvPr>
          <p:cNvSpPr txBox="1"/>
          <p:nvPr/>
        </p:nvSpPr>
        <p:spPr>
          <a:xfrm>
            <a:off x="990600" y="5207000"/>
            <a:ext cx="88900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600" b="1">
                <a:solidFill>
                  <a:srgbClr val="1C222A"/>
                </a:solidFill>
                <a:latin typeface="Calibri" panose="020F0502020204030204" pitchFamily="34" charset="0"/>
              </a:rPr>
              <a:t>Bor-Chen Kuo · Zong-En Bai · Chia-Hua Lin</a:t>
            </a:r>
            <a:endParaRPr lang="zh-TW" altLang="en-US" sz="16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159C650F-CE9B-47A7-B113-08009F730515}"/>
              </a:ext>
            </a:extLst>
          </p:cNvPr>
          <p:cNvSpPr txBox="1"/>
          <p:nvPr/>
        </p:nvSpPr>
        <p:spPr>
          <a:xfrm>
            <a:off x="990600" y="5562600"/>
            <a:ext cx="8890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000">
                <a:solidFill>
                  <a:srgbClr val="58606C"/>
                </a:solidFill>
                <a:latin typeface="Calibri" panose="020F0502020204030204" pitchFamily="34" charset="0"/>
              </a:rPr>
              <a:t>Graduate Institute of Educational Information and Measurement, National Taichung University of Education, Taiwan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56165080-CACA-4BAF-BC49-446E5DA178A3}"/>
              </a:ext>
            </a:extLst>
          </p:cNvPr>
          <p:cNvSpPr txBox="1"/>
          <p:nvPr/>
        </p:nvSpPr>
        <p:spPr>
          <a:xfrm>
            <a:off x="990600" y="5994400"/>
            <a:ext cx="38100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100" b="1">
                <a:solidFill>
                  <a:srgbClr val="DD8F1C"/>
                </a:solidFill>
                <a:latin typeface="Calibri" panose="020F0502020204030204" pitchFamily="34" charset="0"/>
              </a:rPr>
              <a:t>Full Paper · 15 min + 5 min Q&amp;A</a:t>
            </a:r>
            <a:endParaRPr lang="zh-TW" altLang="en-US" sz="11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1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4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AA04F8B-94A9-4BEF-AD96-0966E5ACFA8B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A3817821-A541-4630-830D-147546FE5F70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89BA0E7D-2D42-49D1-836A-E85CC7F8FB7B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01 · CORE STORY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AF1FC321-EEFC-4EA8-A569-068E783A6E91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TALPer improves learning, but regulation explains who benefits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ED0D247E-94DA-481C-BA15-7F87AEB1B72E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A 15-minute storyline: problem -&gt; intervention -&gt; evidence -&gt; implication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F079B91C-E932-4701-B83A-8CB5B9D7D44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AA83EBD5-A3AC-452B-8A40-ECDF8D867839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7A083AEF-57B1-4A81-BF55-1A42A47C53D2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5A513630-91CA-413F-A396-807A0C956031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2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7C5B5E2E-3470-426A-B70D-923BDFCC0A23}"/>
              </a:ext>
            </a:extLst>
          </p:cNvPr>
          <p:cNvSpPr/>
          <p:nvPr/>
        </p:nvSpPr>
        <p:spPr>
          <a:xfrm>
            <a:off x="838200" y="1574800"/>
            <a:ext cx="10515600" cy="12700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D4092C94-7EB3-43B0-976D-718D8924C9EC}"/>
              </a:ext>
            </a:extLst>
          </p:cNvPr>
          <p:cNvSpPr txBox="1"/>
          <p:nvPr/>
        </p:nvSpPr>
        <p:spPr>
          <a:xfrm>
            <a:off x="1219200" y="1841500"/>
            <a:ext cx="9753600" cy="7694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200" b="1">
                <a:solidFill>
                  <a:srgbClr val="041D34"/>
                </a:solidFill>
                <a:latin typeface="Calibri" panose="020F0502020204030204" pitchFamily="34" charset="0"/>
              </a:rPr>
              <a:t>TALPer improves mathematics learning, but its strongest lesson is differentiated: students benefit when they regulate, question, monitor, and reflect with AI.</a:t>
            </a:r>
            <a:endParaRPr lang="zh-TW" altLang="en-US" sz="22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xmlns="" id="{02F8C028-FB63-490B-82E3-FCA832C66583}"/>
              </a:ext>
            </a:extLst>
          </p:cNvPr>
          <p:cNvSpPr/>
          <p:nvPr/>
        </p:nvSpPr>
        <p:spPr>
          <a:xfrm>
            <a:off x="990600" y="3683000"/>
            <a:ext cx="2159000" cy="1117600"/>
          </a:xfrm>
          <a:prstGeom prst="round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4F93D26B-CB8C-4B45-A867-A26BD0442CFB}"/>
              </a:ext>
            </a:extLst>
          </p:cNvPr>
          <p:cNvSpPr txBox="1"/>
          <p:nvPr/>
        </p:nvSpPr>
        <p:spPr>
          <a:xfrm>
            <a:off x="1168400" y="3924300"/>
            <a:ext cx="18034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Problem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B63CC0ED-AE0C-443A-9CA0-D1FB713F7A20}"/>
              </a:ext>
            </a:extLst>
          </p:cNvPr>
          <p:cNvSpPr txBox="1"/>
          <p:nvPr/>
        </p:nvSpPr>
        <p:spPr>
          <a:xfrm>
            <a:off x="1143000" y="4292600"/>
            <a:ext cx="18542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GenAI may scaffold or create dependence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xmlns="" id="{25C9233F-F4F5-432A-BDB4-365E1DDEE2A4}"/>
              </a:ext>
            </a:extLst>
          </p:cNvPr>
          <p:cNvSpPr/>
          <p:nvPr/>
        </p:nvSpPr>
        <p:spPr>
          <a:xfrm>
            <a:off x="3733800" y="3683000"/>
            <a:ext cx="2159000" cy="11176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7F45B257-35FA-4A6B-A297-02314358C71B}"/>
              </a:ext>
            </a:extLst>
          </p:cNvPr>
          <p:cNvSpPr txBox="1"/>
          <p:nvPr/>
        </p:nvSpPr>
        <p:spPr>
          <a:xfrm>
            <a:off x="3911600" y="3924300"/>
            <a:ext cx="18034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Intervention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C02E2084-DD85-4985-A637-7A01D67EEE8E}"/>
              </a:ext>
            </a:extLst>
          </p:cNvPr>
          <p:cNvSpPr txBox="1"/>
          <p:nvPr/>
        </p:nvSpPr>
        <p:spPr>
          <a:xfrm>
            <a:off x="3886200" y="4292600"/>
            <a:ext cx="1854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TALPer embedded in SRL 4L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xmlns="" id="{304386EB-D7BB-4372-B131-5C7D1951DCBA}"/>
              </a:ext>
            </a:extLst>
          </p:cNvPr>
          <p:cNvSpPr/>
          <p:nvPr/>
        </p:nvSpPr>
        <p:spPr>
          <a:xfrm>
            <a:off x="6477000" y="3683000"/>
            <a:ext cx="2159000" cy="1117600"/>
          </a:xfrm>
          <a:prstGeom prst="roundRect">
            <a:avLst/>
          </a:prstGeom>
          <a:solidFill>
            <a:srgbClr val="3687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838BFF97-9273-4C59-AA57-917586AF21E2}"/>
              </a:ext>
            </a:extLst>
          </p:cNvPr>
          <p:cNvSpPr txBox="1"/>
          <p:nvPr/>
        </p:nvSpPr>
        <p:spPr>
          <a:xfrm>
            <a:off x="6654800" y="3924300"/>
            <a:ext cx="18034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Evidence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FDCA8057-187F-4D1E-8075-C695FC3232D2}"/>
              </a:ext>
            </a:extLst>
          </p:cNvPr>
          <p:cNvSpPr txBox="1"/>
          <p:nvPr/>
        </p:nvSpPr>
        <p:spPr>
          <a:xfrm>
            <a:off x="6629400" y="4292600"/>
            <a:ext cx="18542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Outcome, process, and ENA networks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xmlns="" id="{2048A4E4-C235-4E84-BDBA-F6F1831981F6}"/>
              </a:ext>
            </a:extLst>
          </p:cNvPr>
          <p:cNvSpPr/>
          <p:nvPr/>
        </p:nvSpPr>
        <p:spPr>
          <a:xfrm>
            <a:off x="9220200" y="3683000"/>
            <a:ext cx="2159000" cy="11176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6DDA3938-79AC-4290-A5FC-4B9FA2502C98}"/>
              </a:ext>
            </a:extLst>
          </p:cNvPr>
          <p:cNvSpPr txBox="1"/>
          <p:nvPr/>
        </p:nvSpPr>
        <p:spPr>
          <a:xfrm>
            <a:off x="9398000" y="3924300"/>
            <a:ext cx="18034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Takeaway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C364FA7C-77F3-4E6A-8586-82661EB004C1}"/>
              </a:ext>
            </a:extLst>
          </p:cNvPr>
          <p:cNvSpPr txBox="1"/>
          <p:nvPr/>
        </p:nvSpPr>
        <p:spPr>
          <a:xfrm>
            <a:off x="9372600" y="4292600"/>
            <a:ext cx="1854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AI access is not enough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2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82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B8376F6-2972-46C2-B188-642861E2B282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38D86B57-FC09-4C8C-AD23-370B34823C2B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0A5151FF-2A17-4803-B17B-BED520CE80E2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02 · BACKGROUND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B0C748D8-CEE6-4831-800A-B471B03E7A68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The GenAI promise comes with a dependence risk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EF29E112-13D2-4065-B25D-99354BA8CFB6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Structured AI feedback can scaffold SRL, but passive use may reduce learner agency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9163A585-6BC5-4A97-86DA-C76C655A2F6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621DD092-A892-4EDC-840C-EEFFE6A993FA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A3D12D6F-0051-4B89-8B64-EE94D6558158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847AD3F2-36AE-4F91-9A99-489332007337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3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1B364413-1E47-4247-9110-EA2E6C6520ED}"/>
              </a:ext>
            </a:extLst>
          </p:cNvPr>
          <p:cNvSpPr/>
          <p:nvPr/>
        </p:nvSpPr>
        <p:spPr>
          <a:xfrm>
            <a:off x="952500" y="1574800"/>
            <a:ext cx="4851400" cy="2997200"/>
          </a:xfrm>
          <a:prstGeom prst="roundRect">
            <a:avLst/>
          </a:prstGeom>
          <a:solidFill>
            <a:srgbClr val="3687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247F823B-90A0-4CA9-800C-2A042A1781D1}"/>
              </a:ext>
            </a:extLst>
          </p:cNvPr>
          <p:cNvSpPr txBox="1"/>
          <p:nvPr/>
        </p:nvSpPr>
        <p:spPr>
          <a:xfrm>
            <a:off x="1333500" y="1905000"/>
            <a:ext cx="4089400" cy="52322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800" b="1">
                <a:solidFill>
                  <a:srgbClr val="FFFFFF"/>
                </a:solidFill>
                <a:latin typeface="Calibri" panose="020F0502020204030204" pitchFamily="34" charset="0"/>
              </a:rPr>
              <a:t>Scaffold</a:t>
            </a:r>
            <a:endParaRPr lang="zh-TW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A7357986-1174-4331-97D4-19BDD676FDA3}"/>
              </a:ext>
            </a:extLst>
          </p:cNvPr>
          <p:cNvSpPr txBox="1"/>
          <p:nvPr/>
        </p:nvSpPr>
        <p:spPr>
          <a:xfrm>
            <a:off x="1333500" y="2616200"/>
            <a:ext cx="4089400" cy="113877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Real-time feedback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Step-by-step guidance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Planning, monitoring, and reflection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Differentiated support</a:t>
            </a:r>
            <a:endParaRPr lang="zh-TW" altLang="en-US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DC2B78CB-050D-4920-9DE8-94A29306B5A3}"/>
              </a:ext>
            </a:extLst>
          </p:cNvPr>
          <p:cNvSpPr/>
          <p:nvPr/>
        </p:nvSpPr>
        <p:spPr>
          <a:xfrm>
            <a:off x="6388100" y="1574800"/>
            <a:ext cx="4851400" cy="2997200"/>
          </a:xfrm>
          <a:prstGeom prst="roundRect">
            <a:avLst/>
          </a:prstGeom>
          <a:solidFill>
            <a:srgbClr val="BB3D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B47BAD16-9517-4120-B701-1DB8B4D1B9F9}"/>
              </a:ext>
            </a:extLst>
          </p:cNvPr>
          <p:cNvSpPr txBox="1"/>
          <p:nvPr/>
        </p:nvSpPr>
        <p:spPr>
          <a:xfrm>
            <a:off x="6769100" y="1905000"/>
            <a:ext cx="4089400" cy="52322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800" b="1">
                <a:solidFill>
                  <a:srgbClr val="FFFFFF"/>
                </a:solidFill>
                <a:latin typeface="Calibri" panose="020F0502020204030204" pitchFamily="34" charset="0"/>
              </a:rPr>
              <a:t>Dependence</a:t>
            </a:r>
            <a:endParaRPr lang="zh-TW" alt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47AEA4DD-3F61-481F-8EE4-2BDE52D00F90}"/>
              </a:ext>
            </a:extLst>
          </p:cNvPr>
          <p:cNvSpPr txBox="1"/>
          <p:nvPr/>
        </p:nvSpPr>
        <p:spPr>
          <a:xfrm>
            <a:off x="6769100" y="2616200"/>
            <a:ext cx="4089400" cy="113877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Passive answer-seeking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Procedural shortcutting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Reduced learner agency</a:t>
            </a:r>
          </a:p>
          <a:p>
            <a:pPr algn="ctr"/>
            <a:r>
              <a:rPr lang="en-US" altLang="zh-TW" sz="1700">
                <a:solidFill>
                  <a:srgbClr val="FFFFFF"/>
                </a:solidFill>
                <a:latin typeface="Calibri" panose="020F0502020204030204" pitchFamily="34" charset="0"/>
              </a:rPr>
              <a:t>Ability-level differences</a:t>
            </a:r>
            <a:endParaRPr lang="zh-TW" altLang="en-US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D0F84EB6-5A8D-4D88-AA88-5BC68C176960}"/>
              </a:ext>
            </a:extLst>
          </p:cNvPr>
          <p:cNvSpPr txBox="1"/>
          <p:nvPr/>
        </p:nvSpPr>
        <p:spPr>
          <a:xfrm>
            <a:off x="1905000" y="5207000"/>
            <a:ext cx="8382000" cy="64633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b="1">
                <a:solidFill>
                  <a:srgbClr val="041D34"/>
                </a:solidFill>
                <a:latin typeface="Calibri" panose="020F0502020204030204" pitchFamily="34" charset="0"/>
              </a:rPr>
              <a:t>Research gap: whether this scaffold-dependence tension differs across learner ability levels remains underexplored.</a:t>
            </a:r>
            <a:endParaRPr lang="zh-TW" altLang="en-US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43000" y="5016500"/>
            <a:ext cx="99060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 smtClean="0">
                <a:solidFill>
                  <a:srgbClr val="041D34"/>
                </a:solidFill>
                <a:latin typeface="Calibri" panose="020F0502020204030204" pitchFamily="34" charset="0"/>
              </a:rPr>
              <a:t>Grounded in Zimmerman's (2002) SRL cycle: forethought -&gt; performance -&gt; self-reflection</a:t>
            </a:r>
            <a:endParaRPr lang="zh-TW" altLang="en-US" sz="11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905000" y="4635500"/>
            <a:ext cx="3810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da-DK" altLang="zh-TW" sz="900" smtClean="0">
                <a:solidFill>
                  <a:srgbClr val="368764"/>
                </a:solidFill>
                <a:latin typeface="Calibri" panose="020F0502020204030204" pitchFamily="34" charset="0"/>
              </a:rPr>
              <a:t>(Chiu, 2024; Wu et al., 2023)</a:t>
            </a:r>
            <a:endParaRPr lang="zh-TW" altLang="en-US" sz="900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39000" y="4635500"/>
            <a:ext cx="3810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da-DK" altLang="zh-TW" sz="900" smtClean="0">
                <a:solidFill>
                  <a:srgbClr val="BB3D44"/>
                </a:solidFill>
                <a:latin typeface="Calibri" panose="020F0502020204030204" pitchFamily="34" charset="0"/>
              </a:rPr>
              <a:t>(Jin et al., 2023; Lee &amp; Low, 2024)</a:t>
            </a:r>
            <a:endParaRPr lang="zh-TW" altLang="en-US" sz="900">
              <a:solidFill>
                <a:srgbClr val="BB3D44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3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4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 smtClean="0">
                <a:solidFill>
                  <a:srgbClr val="DD8F1C"/>
                </a:solidFill>
                <a:latin typeface="Calibri" panose="020F0502020204030204" pitchFamily="34" charset="0"/>
              </a:rPr>
              <a:t>02 - THEORY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11400" y="635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 smtClean="0">
                <a:solidFill>
                  <a:srgbClr val="FFFFFF"/>
                </a:solidFill>
                <a:latin typeface="Calibri" panose="020F0502020204030204" pitchFamily="34" charset="0"/>
              </a:rPr>
              <a:t>Zimmerman's SRL Cycle  x  Ho's 4L Framework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 smtClean="0">
                <a:solidFill>
                  <a:srgbClr val="58606C"/>
                </a:solidFill>
                <a:latin typeface="Calibri" panose="020F0502020204030204" pitchFamily="34" charset="0"/>
              </a:rPr>
              <a:t>Forethought -&gt; Performance -&gt; Self-Reflection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圖片 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4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4200" y="1143000"/>
            <a:ext cx="3556000" cy="276999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300" b="1" smtClean="0">
                <a:solidFill>
                  <a:srgbClr val="1C222A"/>
                </a:solidFill>
                <a:latin typeface="Calibri" panose="020F0502020204030204" pitchFamily="34" charset="0"/>
              </a:rPr>
              <a:t>Zimmerman (2002) SRL Cycle</a:t>
            </a:r>
            <a:endParaRPr lang="zh-TW" altLang="en-US" sz="13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4200" y="1473200"/>
            <a:ext cx="101600" cy="965200"/>
          </a:xfrm>
          <a:prstGeom prst="rect">
            <a:avLst/>
          </a:prstGeom>
          <a:solidFill>
            <a:srgbClr val="008C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736600" y="1473200"/>
            <a:ext cx="3937000" cy="965200"/>
          </a:xfrm>
          <a:prstGeom prst="rect">
            <a:avLst/>
          </a:prstGeom>
          <a:solidFill>
            <a:srgbClr val="E0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63600" y="1549400"/>
            <a:ext cx="3556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b="1" smtClean="0">
                <a:solidFill>
                  <a:srgbClr val="008C9E"/>
                </a:solidFill>
                <a:latin typeface="Calibri" panose="020F0502020204030204" pitchFamily="34" charset="0"/>
              </a:rPr>
              <a:t>Forethought</a:t>
            </a:r>
            <a:endParaRPr lang="zh-TW" altLang="en-US" b="1">
              <a:solidFill>
                <a:srgbClr val="008C9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63600" y="1879600"/>
            <a:ext cx="3556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000" smtClean="0">
                <a:solidFill>
                  <a:srgbClr val="58606C"/>
                </a:solidFill>
                <a:latin typeface="Calibri" panose="020F0502020204030204" pitchFamily="34" charset="0"/>
              </a:rPr>
              <a:t>Goal setting - Prior-knowledge activation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4200" y="2616200"/>
            <a:ext cx="101600" cy="9652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736600" y="2616200"/>
            <a:ext cx="3937000" cy="965200"/>
          </a:xfrm>
          <a:prstGeom prst="rect">
            <a:avLst/>
          </a:prstGeom>
          <a:solidFill>
            <a:srgbClr val="FFF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63600" y="2692400"/>
            <a:ext cx="3556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b="1" dirty="0" smtClean="0">
                <a:solidFill>
                  <a:srgbClr val="E67E22"/>
                </a:solidFill>
                <a:latin typeface="Calibri" panose="020F0502020204030204" pitchFamily="34" charset="0"/>
              </a:rPr>
              <a:t>Performance</a:t>
            </a:r>
            <a:endParaRPr lang="zh-TW" altLang="en-US" b="1" dirty="0">
              <a:solidFill>
                <a:srgbClr val="E67E22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63600" y="3022600"/>
            <a:ext cx="3556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000" smtClean="0">
                <a:solidFill>
                  <a:srgbClr val="58606C"/>
                </a:solidFill>
                <a:latin typeface="Calibri" panose="020F0502020204030204" pitchFamily="34" charset="0"/>
              </a:rPr>
              <a:t>Monitoring - Strategy - Peer adjustment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84200" y="3759200"/>
            <a:ext cx="101600" cy="965200"/>
          </a:xfrm>
          <a:prstGeom prst="rect">
            <a:avLst/>
          </a:prstGeom>
          <a:solidFill>
            <a:srgbClr val="008C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736600" y="3759200"/>
            <a:ext cx="3937000" cy="965200"/>
          </a:xfrm>
          <a:prstGeom prst="rect">
            <a:avLst/>
          </a:prstGeom>
          <a:solidFill>
            <a:srgbClr val="E0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863600" y="3835400"/>
            <a:ext cx="3556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b="1" smtClean="0">
                <a:solidFill>
                  <a:srgbClr val="008C9E"/>
                </a:solidFill>
                <a:latin typeface="Calibri" panose="020F0502020204030204" pitchFamily="34" charset="0"/>
              </a:rPr>
              <a:t>Self-Reflection</a:t>
            </a:r>
            <a:endParaRPr lang="zh-TW" altLang="en-US" b="1">
              <a:solidFill>
                <a:srgbClr val="008C9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63600" y="4165600"/>
            <a:ext cx="3556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000" smtClean="0">
                <a:solidFill>
                  <a:srgbClr val="58606C"/>
                </a:solidFill>
                <a:latin typeface="Calibri" panose="020F0502020204030204" pitchFamily="34" charset="0"/>
              </a:rPr>
              <a:t>Error noticing - Conceptual consolidation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350000" y="1143000"/>
            <a:ext cx="4826000" cy="276999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nn-NO" altLang="zh-TW" sz="1300" b="1" smtClean="0">
                <a:solidFill>
                  <a:srgbClr val="1C222A"/>
                </a:solidFill>
                <a:latin typeface="Calibri" panose="020F0502020204030204" pitchFamily="34" charset="0"/>
              </a:rPr>
              <a:t>Ho (2014) SRL 4L Framework</a:t>
            </a:r>
            <a:endParaRPr lang="zh-TW" altLang="en-US" sz="13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50000" y="1473200"/>
            <a:ext cx="101600" cy="685800"/>
          </a:xfrm>
          <a:prstGeom prst="rect">
            <a:avLst/>
          </a:prstGeom>
          <a:solidFill>
            <a:srgbClr val="008C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6502400" y="1473200"/>
            <a:ext cx="3937000" cy="685800"/>
          </a:xfrm>
          <a:prstGeom prst="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6629400" y="1524000"/>
            <a:ext cx="20320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500" b="1" smtClean="0">
                <a:solidFill>
                  <a:srgbClr val="041D34"/>
                </a:solidFill>
                <a:latin typeface="Calibri" panose="020F0502020204030204" pitchFamily="34" charset="0"/>
              </a:rPr>
              <a:t>Self-learning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890000" y="1524000"/>
            <a:ext cx="1524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Goal setting / prior activation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890000" y="17526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b="1" smtClean="0">
                <a:solidFill>
                  <a:srgbClr val="008C9E"/>
                </a:solidFill>
                <a:latin typeface="Calibri" panose="020F0502020204030204" pitchFamily="34" charset="0"/>
              </a:rPr>
              <a:t>&lt;-&gt; Forethought</a:t>
            </a:r>
            <a:endParaRPr lang="zh-TW" altLang="en-US" sz="800" b="1">
              <a:solidFill>
                <a:srgbClr val="008C9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50000" y="2336800"/>
            <a:ext cx="101600" cy="685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6502400" y="2336800"/>
            <a:ext cx="3937000" cy="685800"/>
          </a:xfrm>
          <a:prstGeom prst="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6629400" y="2387600"/>
            <a:ext cx="20320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500" b="1" smtClean="0">
                <a:solidFill>
                  <a:srgbClr val="041D34"/>
                </a:solidFill>
                <a:latin typeface="Calibri" panose="020F0502020204030204" pitchFamily="34" charset="0"/>
              </a:rPr>
              <a:t>Co-learning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890000" y="2387600"/>
            <a:ext cx="15240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Monitoring &amp; scaffolded feedback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890000" y="2616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b="1" smtClean="0">
                <a:solidFill>
                  <a:srgbClr val="E67E22"/>
                </a:solidFill>
                <a:latin typeface="Calibri" panose="020F0502020204030204" pitchFamily="34" charset="0"/>
              </a:rPr>
              <a:t>&lt;-&gt; Performance</a:t>
            </a:r>
            <a:endParaRPr lang="zh-TW" altLang="en-US" sz="800" b="1">
              <a:solidFill>
                <a:srgbClr val="E67E22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50000" y="3200400"/>
            <a:ext cx="101600" cy="685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6502400" y="3200400"/>
            <a:ext cx="3937000" cy="685800"/>
          </a:xfrm>
          <a:prstGeom prst="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6629400" y="3251200"/>
            <a:ext cx="20320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500" b="1" smtClean="0">
                <a:solidFill>
                  <a:srgbClr val="041D34"/>
                </a:solidFill>
                <a:latin typeface="Calibri" panose="020F0502020204030204" pitchFamily="34" charset="0"/>
              </a:rPr>
              <a:t>Mutual learning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890000" y="3251200"/>
            <a:ext cx="1524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Cross group strategy sharing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890000" y="34798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b="1" smtClean="0">
                <a:solidFill>
                  <a:srgbClr val="E67E22"/>
                </a:solidFill>
                <a:latin typeface="Calibri" panose="020F0502020204030204" pitchFamily="34" charset="0"/>
              </a:rPr>
              <a:t>&lt;-&gt; Performance</a:t>
            </a:r>
            <a:endParaRPr lang="zh-TW" altLang="en-US" sz="800" b="1">
              <a:solidFill>
                <a:srgbClr val="E67E22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50000" y="4064000"/>
            <a:ext cx="101600" cy="685800"/>
          </a:xfrm>
          <a:prstGeom prst="rect">
            <a:avLst/>
          </a:prstGeom>
          <a:solidFill>
            <a:srgbClr val="008C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6502400" y="4064000"/>
            <a:ext cx="3937000" cy="685800"/>
          </a:xfrm>
          <a:prstGeom prst="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6629400" y="4114800"/>
            <a:ext cx="20320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500" b="1" smtClean="0">
                <a:solidFill>
                  <a:srgbClr val="041D34"/>
                </a:solidFill>
                <a:latin typeface="Calibri" panose="020F0502020204030204" pitchFamily="34" charset="0"/>
              </a:rPr>
              <a:t>Teacher-guided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890000" y="4114800"/>
            <a:ext cx="1524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Misconception fix &amp; integration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8890000" y="43434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 b="1" smtClean="0">
                <a:solidFill>
                  <a:srgbClr val="008C9E"/>
                </a:solidFill>
                <a:latin typeface="Calibri" panose="020F0502020204030204" pitchFamily="34" charset="0"/>
              </a:rPr>
              <a:t>&lt;-&gt; Self Reflection</a:t>
            </a:r>
            <a:endParaRPr lang="zh-TW" altLang="en-US" sz="800" b="1">
              <a:solidFill>
                <a:srgbClr val="008C9E"/>
              </a:solidFill>
              <a:latin typeface="Calibri" panose="020F0502020204030204" pitchFamily="34" charset="0"/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>
            <a:off x="5969000" y="1270000"/>
            <a:ext cx="0" cy="355600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圓角矩形 45"/>
          <p:cNvSpPr/>
          <p:nvPr/>
        </p:nvSpPr>
        <p:spPr>
          <a:xfrm>
            <a:off x="584200" y="5207000"/>
            <a:ext cx="9855200" cy="4572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>
            <a:off x="711200" y="5283200"/>
            <a:ext cx="96012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000" b="1" smtClean="0">
                <a:solidFill>
                  <a:srgbClr val="041D34"/>
                </a:solidFill>
                <a:latin typeface="Calibri" panose="020F0502020204030204" pitchFamily="34" charset="0"/>
              </a:rPr>
              <a:t>The 4L phases map onto Zimmerman's cycle. We apply this mapping to design our SRL coding scheme and ENA dimensions.</a:t>
            </a:r>
            <a:endParaRPr lang="zh-TW" altLang="en-US" sz="10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29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3A4DF27E-FC32-4661-827B-28E7BE858CAD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D824513D-A00A-4932-8C5A-5624ECD68DAB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39E3D791-48BC-44F2-8CA6-14136FE613D0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03 · MODEL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E71CE0F9-B5DC-458F-B392-80ABAEAF2ADC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TALPer is embedded inside the SRL 4L learning cycle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DD45B9B8-4A8B-4679-A19E-75C49A885536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Self-learning -&gt; co-learning -&gt; mutual learning -&gt; teacher-guided consolidation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A429051D-B7AC-4465-B207-43D17BF1D9D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375B9193-FCAE-41D8-82E0-B122ED59C5DA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88683567-3E7C-4DBC-A413-20E121DEA92F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495F920D-DA62-4BFC-BA0A-AFE1A6495FBD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4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BAD54B79-D9DC-4BB8-9467-2DFB93B1C01C}"/>
              </a:ext>
            </a:extLst>
          </p:cNvPr>
          <p:cNvSpPr/>
          <p:nvPr/>
        </p:nvSpPr>
        <p:spPr>
          <a:xfrm>
            <a:off x="863600" y="2032000"/>
            <a:ext cx="1625600" cy="1066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26638C69-89A1-4ED8-B6D0-90F983666D0D}"/>
              </a:ext>
            </a:extLst>
          </p:cNvPr>
          <p:cNvSpPr txBox="1"/>
          <p:nvPr/>
        </p:nvSpPr>
        <p:spPr>
          <a:xfrm>
            <a:off x="965200" y="2298700"/>
            <a:ext cx="14224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Self-learning</a:t>
            </a:r>
          </a:p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pre-class</a:t>
            </a:r>
            <a:endParaRPr lang="zh-TW" alt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37A34E75-E842-4864-9F6C-91B63D8A3CC1}"/>
              </a:ext>
            </a:extLst>
          </p:cNvPr>
          <p:cNvCxnSpPr/>
          <p:nvPr/>
        </p:nvCxnSpPr>
        <p:spPr>
          <a:xfrm>
            <a:off x="2489200" y="2565400"/>
            <a:ext cx="584200" cy="0"/>
          </a:xfrm>
          <a:prstGeom prst="straightConnector1">
            <a:avLst/>
          </a:prstGeom>
          <a:ln w="25400">
            <a:solidFill>
              <a:srgbClr val="586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72A1D158-D4FF-4FB3-956B-E1CA6A64B83B}"/>
              </a:ext>
            </a:extLst>
          </p:cNvPr>
          <p:cNvSpPr/>
          <p:nvPr/>
        </p:nvSpPr>
        <p:spPr>
          <a:xfrm>
            <a:off x="3073400" y="2032000"/>
            <a:ext cx="1625600" cy="1066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8E49CE11-8B51-4FDE-BE38-5CD56DA1D085}"/>
              </a:ext>
            </a:extLst>
          </p:cNvPr>
          <p:cNvSpPr txBox="1"/>
          <p:nvPr/>
        </p:nvSpPr>
        <p:spPr>
          <a:xfrm>
            <a:off x="3175000" y="2298700"/>
            <a:ext cx="14224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Teacher intro</a:t>
            </a:r>
          </a:p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uses logs</a:t>
            </a:r>
            <a:endParaRPr lang="zh-TW" alt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692708FD-051F-4A34-B52C-B6C6CF7139DB}"/>
              </a:ext>
            </a:extLst>
          </p:cNvPr>
          <p:cNvCxnSpPr/>
          <p:nvPr/>
        </p:nvCxnSpPr>
        <p:spPr>
          <a:xfrm>
            <a:off x="4699000" y="2565400"/>
            <a:ext cx="584200" cy="0"/>
          </a:xfrm>
          <a:prstGeom prst="straightConnector1">
            <a:avLst/>
          </a:prstGeom>
          <a:ln w="25400">
            <a:solidFill>
              <a:srgbClr val="586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C460A676-EAF3-4398-906D-D34CB98A1460}"/>
              </a:ext>
            </a:extLst>
          </p:cNvPr>
          <p:cNvSpPr/>
          <p:nvPr/>
        </p:nvSpPr>
        <p:spPr>
          <a:xfrm>
            <a:off x="5283200" y="2032000"/>
            <a:ext cx="1625600" cy="10668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5187D744-FBC8-48DE-A507-00DF5C03D95D}"/>
              </a:ext>
            </a:extLst>
          </p:cNvPr>
          <p:cNvSpPr txBox="1"/>
          <p:nvPr/>
        </p:nvSpPr>
        <p:spPr>
          <a:xfrm>
            <a:off x="5384800" y="2298700"/>
            <a:ext cx="14224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Co-learning</a:t>
            </a:r>
          </a:p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AI feedback</a:t>
            </a:r>
            <a:endParaRPr lang="zh-TW" alt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xmlns="" id="{6B6821A3-F5DF-4496-A087-4320BB59D308}"/>
              </a:ext>
            </a:extLst>
          </p:cNvPr>
          <p:cNvCxnSpPr/>
          <p:nvPr/>
        </p:nvCxnSpPr>
        <p:spPr>
          <a:xfrm>
            <a:off x="6908800" y="2565400"/>
            <a:ext cx="584200" cy="0"/>
          </a:xfrm>
          <a:prstGeom prst="straightConnector1">
            <a:avLst/>
          </a:prstGeom>
          <a:ln w="25400">
            <a:solidFill>
              <a:srgbClr val="586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xmlns="" id="{94FC79FA-DB9C-4A95-9C1B-BADAFFF616A4}"/>
              </a:ext>
            </a:extLst>
          </p:cNvPr>
          <p:cNvSpPr/>
          <p:nvPr/>
        </p:nvSpPr>
        <p:spPr>
          <a:xfrm>
            <a:off x="7493000" y="2032000"/>
            <a:ext cx="1625600" cy="1066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E37F9E3F-DAEB-4E18-B6E7-F767B855283A}"/>
              </a:ext>
            </a:extLst>
          </p:cNvPr>
          <p:cNvSpPr txBox="1"/>
          <p:nvPr/>
        </p:nvSpPr>
        <p:spPr>
          <a:xfrm>
            <a:off x="7594600" y="2298700"/>
            <a:ext cx="14224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Mutual learning</a:t>
            </a:r>
          </a:p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peer sharing</a:t>
            </a:r>
            <a:endParaRPr lang="zh-TW" alt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xmlns="" id="{F7B8130C-4B06-4634-A65A-CDA70624C4D1}"/>
              </a:ext>
            </a:extLst>
          </p:cNvPr>
          <p:cNvCxnSpPr/>
          <p:nvPr/>
        </p:nvCxnSpPr>
        <p:spPr>
          <a:xfrm>
            <a:off x="9118600" y="2565400"/>
            <a:ext cx="584200" cy="0"/>
          </a:xfrm>
          <a:prstGeom prst="straightConnector1">
            <a:avLst/>
          </a:prstGeom>
          <a:ln w="25400">
            <a:solidFill>
              <a:srgbClr val="586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圓角 23">
            <a:extLst>
              <a:ext uri="{FF2B5EF4-FFF2-40B4-BE49-F238E27FC236}">
                <a16:creationId xmlns:a16="http://schemas.microsoft.com/office/drawing/2014/main" xmlns="" id="{20E21C6D-C456-4979-97D2-E3B33F72717C}"/>
              </a:ext>
            </a:extLst>
          </p:cNvPr>
          <p:cNvSpPr/>
          <p:nvPr/>
        </p:nvSpPr>
        <p:spPr>
          <a:xfrm>
            <a:off x="9702800" y="2032000"/>
            <a:ext cx="1625600" cy="1066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E33DA596-8CD0-487D-BAFB-F934BA896634}"/>
              </a:ext>
            </a:extLst>
          </p:cNvPr>
          <p:cNvSpPr txBox="1"/>
          <p:nvPr/>
        </p:nvSpPr>
        <p:spPr>
          <a:xfrm>
            <a:off x="9804400" y="2298700"/>
            <a:ext cx="14224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Teacher-guided</a:t>
            </a:r>
          </a:p>
          <a:p>
            <a:pPr algn="ctr"/>
            <a:r>
              <a:rPr lang="en-US" altLang="zh-TW" sz="1200" b="1">
                <a:solidFill>
                  <a:srgbClr val="FFFFFF"/>
                </a:solidFill>
                <a:latin typeface="Calibri" panose="020F0502020204030204" pitchFamily="34" charset="0"/>
              </a:rPr>
              <a:t>reflection</a:t>
            </a:r>
            <a:endParaRPr lang="zh-TW" alt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xmlns="" id="{2A002535-D220-4F1B-B13B-0F0E78716D1A}"/>
              </a:ext>
            </a:extLst>
          </p:cNvPr>
          <p:cNvSpPr/>
          <p:nvPr/>
        </p:nvSpPr>
        <p:spPr>
          <a:xfrm>
            <a:off x="2603500" y="3987800"/>
            <a:ext cx="6985000" cy="9906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8E695EFC-B43B-4EAF-9200-33F006551163}"/>
              </a:ext>
            </a:extLst>
          </p:cNvPr>
          <p:cNvSpPr txBox="1"/>
          <p:nvPr/>
        </p:nvSpPr>
        <p:spPr>
          <a:xfrm>
            <a:off x="2946400" y="4229100"/>
            <a:ext cx="6299200" cy="61555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041D34"/>
                </a:solidFill>
                <a:latin typeface="Calibri" panose="020F0502020204030204" pitchFamily="34" charset="0"/>
              </a:rPr>
              <a:t>TALPer roles: records questions and traces, provides dialogic feedback, and supports logical verification.</a:t>
            </a:r>
            <a:endParaRPr lang="zh-TW" altLang="en-US" sz="17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70395C06-D705-4A4D-AE65-A5072E5523FE}"/>
              </a:ext>
            </a:extLst>
          </p:cNvPr>
          <p:cNvSpPr txBox="1"/>
          <p:nvPr/>
        </p:nvSpPr>
        <p:spPr>
          <a:xfrm>
            <a:off x="2082800" y="5461000"/>
            <a:ext cx="8026400" cy="276999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300">
                <a:solidFill>
                  <a:srgbClr val="58606C"/>
                </a:solidFill>
                <a:latin typeface="Calibri" panose="020F0502020204030204" pitchFamily="34" charset="0"/>
              </a:rPr>
              <a:t>The design connects SRL forethought, performance, and reflection inside a classroom routine.</a:t>
            </a:r>
            <a:endParaRPr lang="zh-TW" altLang="en-US" sz="13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64620975-DECF-4190-9AB6-E5903C0EA13C}"/>
              </a:ext>
            </a:extLst>
          </p:cNvPr>
          <p:cNvSpPr/>
          <p:nvPr/>
        </p:nvSpPr>
        <p:spPr>
          <a:xfrm>
            <a:off x="304800" y="1498600"/>
            <a:ext cx="11582400" cy="4851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533F6648-D8D7-4DBB-B93C-D1D8DA2633F8}"/>
              </a:ext>
            </a:extLst>
          </p:cNvPr>
          <p:cNvSpPr txBox="1"/>
          <p:nvPr/>
        </p:nvSpPr>
        <p:spPr>
          <a:xfrm>
            <a:off x="685800" y="1549400"/>
            <a:ext cx="10795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b="1">
                <a:solidFill>
                  <a:srgbClr val="041D34"/>
                </a:solidFill>
                <a:latin typeface="Calibri" panose="020F0502020204030204" pitchFamily="34" charset="0"/>
              </a:rPr>
              <a:t>Original TALPer interface from the source deck</a:t>
            </a:r>
            <a:endParaRPr lang="zh-TW" altLang="en-US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xmlns="" id="{DB8BF71A-F8B3-46DF-958C-228DAF046D2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006600"/>
            <a:ext cx="5143500" cy="3975100"/>
          </a:xfrm>
          <a:prstGeom prst="rect">
            <a:avLst/>
          </a:prstGeom>
        </p:spPr>
      </p:pic>
      <p:sp>
        <p:nvSpPr>
          <p:cNvPr id="32" name="矩形: 圓角 31">
            <a:extLst>
              <a:ext uri="{FF2B5EF4-FFF2-40B4-BE49-F238E27FC236}">
                <a16:creationId xmlns:a16="http://schemas.microsoft.com/office/drawing/2014/main" xmlns="" id="{8EC02971-4B0F-4FD2-AF54-B146FC35BA61}"/>
              </a:ext>
            </a:extLst>
          </p:cNvPr>
          <p:cNvSpPr/>
          <p:nvPr/>
        </p:nvSpPr>
        <p:spPr>
          <a:xfrm>
            <a:off x="6604000" y="2108200"/>
            <a:ext cx="4254500" cy="7874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C78AF9D7-C06C-4319-B64F-1D66079BEE4C}"/>
              </a:ext>
            </a:extLst>
          </p:cNvPr>
          <p:cNvSpPr txBox="1"/>
          <p:nvPr/>
        </p:nvSpPr>
        <p:spPr>
          <a:xfrm>
            <a:off x="6858000" y="2286000"/>
            <a:ext cx="37465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Student asks a mathematical question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xmlns="" id="{CE322064-9F41-44FF-A162-B02A0A47BDD3}"/>
              </a:ext>
            </a:extLst>
          </p:cNvPr>
          <p:cNvSpPr/>
          <p:nvPr/>
        </p:nvSpPr>
        <p:spPr>
          <a:xfrm>
            <a:off x="6604000" y="3200400"/>
            <a:ext cx="4254500" cy="787400"/>
          </a:xfrm>
          <a:prstGeom prst="roundRect">
            <a:avLst/>
          </a:prstGeom>
          <a:solidFill>
            <a:srgbClr val="3687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8725623D-2EF5-4FF9-A1AC-041F03CBD2F9}"/>
              </a:ext>
            </a:extLst>
          </p:cNvPr>
          <p:cNvSpPr txBox="1"/>
          <p:nvPr/>
        </p:nvSpPr>
        <p:spPr>
          <a:xfrm>
            <a:off x="6858000" y="3378200"/>
            <a:ext cx="3746500" cy="61555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TALPer responds through guided reasoning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xmlns="" id="{27FFCF50-3B05-4B56-9F22-156EE7810162}"/>
              </a:ext>
            </a:extLst>
          </p:cNvPr>
          <p:cNvSpPr/>
          <p:nvPr/>
        </p:nvSpPr>
        <p:spPr>
          <a:xfrm>
            <a:off x="6604000" y="4292600"/>
            <a:ext cx="4254500" cy="7874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BA1DBC58-69B1-49D5-83A5-5991E0DDD082}"/>
              </a:ext>
            </a:extLst>
          </p:cNvPr>
          <p:cNvSpPr txBox="1"/>
          <p:nvPr/>
        </p:nvSpPr>
        <p:spPr>
          <a:xfrm>
            <a:off x="6858000" y="4470400"/>
            <a:ext cx="3746500" cy="61555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Interaction logs become classroom evidence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xmlns="" id="{DB4DDE9F-76EB-4D72-B0E3-AD28F5DAB792}"/>
              </a:ext>
            </a:extLst>
          </p:cNvPr>
          <p:cNvSpPr txBox="1"/>
          <p:nvPr/>
        </p:nvSpPr>
        <p:spPr>
          <a:xfrm>
            <a:off x="6959600" y="5461000"/>
            <a:ext cx="35560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This is the concrete system view behind the SRL 4L integration.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09600" y="914400"/>
            <a:ext cx="11049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000" b="1" smtClean="0">
                <a:solidFill>
                  <a:srgbClr val="1E5296"/>
                </a:solidFill>
                <a:latin typeface="Calibri" panose="020F0502020204030204" pitchFamily="34" charset="0"/>
              </a:rPr>
              <a:t>Based on Ho's (2014) SRL 4L framework, grounded in Zimmerman's (2002) SRL cycle</a:t>
            </a:r>
            <a:endParaRPr lang="zh-TW" altLang="en-US" sz="10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62000" y="6197600"/>
            <a:ext cx="10668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900" b="1" smtClean="0">
                <a:solidFill>
                  <a:srgbClr val="041D34"/>
                </a:solidFill>
                <a:latin typeface="Calibri" panose="020F0502020204030204" pitchFamily="34" charset="0"/>
              </a:rPr>
              <a:t>TALPer: an AI learning companion on TALP for elementary math problem solving (Kuo et al., 2026)</a:t>
            </a:r>
            <a:endParaRPr lang="zh-TW" altLang="en-US" sz="9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5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35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7E0AC94-19F0-4788-9CDB-15DA9AEB8FB0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91AFB39E-9B36-4B95-8F6F-452598CDD0C5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63D709B8-D54F-480D-A7A6-69E555B808DB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04 · QUESTIONS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91D78104-AB78-47DB-AA2C-B7509BA14D07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The study follows three evidence layers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8EBB8AC5-9849-448E-B8C4-EDEA90BFF3E5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Outcome, process, and cognitive network structure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9C6BC1AB-2F64-4625-A090-7449F575231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773EDD0B-D078-478A-88FB-1FBD2251EFBD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49F61220-9146-48B9-A1CF-C377B335BCBA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35C976C1-2943-4673-9411-746540035146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5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67D07382-1DE2-4426-B893-8F2EAF4E9A4C}"/>
              </a:ext>
            </a:extLst>
          </p:cNvPr>
          <p:cNvSpPr/>
          <p:nvPr/>
        </p:nvSpPr>
        <p:spPr>
          <a:xfrm>
            <a:off x="1371600" y="1727200"/>
            <a:ext cx="2413000" cy="889000"/>
          </a:xfrm>
          <a:prstGeom prst="round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16388A14-79B1-49FB-B1C9-69AD0E01B7C4}"/>
              </a:ext>
            </a:extLst>
          </p:cNvPr>
          <p:cNvSpPr txBox="1"/>
          <p:nvPr/>
        </p:nvSpPr>
        <p:spPr>
          <a:xfrm>
            <a:off x="1549400" y="1993900"/>
            <a:ext cx="20574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alibri" panose="020F0502020204030204" pitchFamily="34" charset="0"/>
              </a:rPr>
              <a:t>RQ1 · Outcome</a:t>
            </a:r>
            <a:endParaRPr lang="zh-TW" altLang="en-US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0AE97296-B23A-4732-AAD7-BE780B21432F}"/>
              </a:ext>
            </a:extLst>
          </p:cNvPr>
          <p:cNvSpPr txBox="1"/>
          <p:nvPr/>
        </p:nvSpPr>
        <p:spPr>
          <a:xfrm>
            <a:off x="4241800" y="1816100"/>
            <a:ext cx="6375400" cy="58477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600">
                <a:solidFill>
                  <a:srgbClr val="1C222A"/>
                </a:solidFill>
                <a:latin typeface="Calibri" panose="020F0502020204030204" pitchFamily="34" charset="0"/>
              </a:rPr>
              <a:t>Does TALPer + SRL 4L improve learning outcomes compared with SRL 4L alone?</a:t>
            </a:r>
            <a:endParaRPr lang="zh-TW" altLang="en-US" sz="16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AC13E732-844F-4FAE-B46A-BA2143410B40}"/>
              </a:ext>
            </a:extLst>
          </p:cNvPr>
          <p:cNvSpPr/>
          <p:nvPr/>
        </p:nvSpPr>
        <p:spPr>
          <a:xfrm>
            <a:off x="1371600" y="3200400"/>
            <a:ext cx="2413000" cy="8890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BF24FA57-F92B-48FC-8EAD-4ACCC892C21B}"/>
              </a:ext>
            </a:extLst>
          </p:cNvPr>
          <p:cNvSpPr txBox="1"/>
          <p:nvPr/>
        </p:nvSpPr>
        <p:spPr>
          <a:xfrm>
            <a:off x="1549400" y="3467100"/>
            <a:ext cx="20574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alibri" panose="020F0502020204030204" pitchFamily="34" charset="0"/>
              </a:rPr>
              <a:t>RQ2 · Process</a:t>
            </a:r>
            <a:endParaRPr lang="zh-TW" altLang="en-US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60DB7DA9-F5BB-4A55-853F-5FAB2C27B5AD}"/>
              </a:ext>
            </a:extLst>
          </p:cNvPr>
          <p:cNvSpPr txBox="1"/>
          <p:nvPr/>
        </p:nvSpPr>
        <p:spPr>
          <a:xfrm>
            <a:off x="4241800" y="3289300"/>
            <a:ext cx="6375400" cy="58477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600">
                <a:solidFill>
                  <a:srgbClr val="1C222A"/>
                </a:solidFill>
                <a:latin typeface="Calibri" panose="020F0502020204030204" pitchFamily="34" charset="0"/>
              </a:rPr>
              <a:t>Do high- and low-achieving students differ in SRL strategy use when TALPer is available?</a:t>
            </a:r>
            <a:endParaRPr lang="zh-TW" altLang="en-US" sz="16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B1125FB6-65B9-4896-9539-A470F27B2319}"/>
              </a:ext>
            </a:extLst>
          </p:cNvPr>
          <p:cNvSpPr/>
          <p:nvPr/>
        </p:nvSpPr>
        <p:spPr>
          <a:xfrm>
            <a:off x="1371600" y="4673600"/>
            <a:ext cx="2413000" cy="8890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F12AD603-7629-43CA-B1E6-A1BAD1D08A44}"/>
              </a:ext>
            </a:extLst>
          </p:cNvPr>
          <p:cNvSpPr txBox="1"/>
          <p:nvPr/>
        </p:nvSpPr>
        <p:spPr>
          <a:xfrm>
            <a:off x="1549400" y="4940300"/>
            <a:ext cx="20574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b="1">
                <a:solidFill>
                  <a:srgbClr val="FFFFFF"/>
                </a:solidFill>
                <a:latin typeface="Calibri" panose="020F0502020204030204" pitchFamily="34" charset="0"/>
              </a:rPr>
              <a:t>RQ3 · Structure</a:t>
            </a:r>
            <a:endParaRPr lang="zh-TW" altLang="en-US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5CF1E004-6276-4FCD-83B6-99A03BDB1A6E}"/>
              </a:ext>
            </a:extLst>
          </p:cNvPr>
          <p:cNvSpPr txBox="1"/>
          <p:nvPr/>
        </p:nvSpPr>
        <p:spPr>
          <a:xfrm>
            <a:off x="4241800" y="4762500"/>
            <a:ext cx="63754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600">
                <a:solidFill>
                  <a:srgbClr val="1C222A"/>
                </a:solidFill>
                <a:latin typeface="Calibri" panose="020F0502020204030204" pitchFamily="34" charset="0"/>
              </a:rPr>
              <a:t>Do their cognitive network structures differ in ENA representations?</a:t>
            </a:r>
            <a:endParaRPr lang="zh-TW" altLang="en-US" sz="16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6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82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45BDC2D-76C4-4A3B-B355-5AA4C528D3CA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18BDBB9-4BC1-452A-9986-3B66341B420E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14F182BE-2AB7-487C-B10A-91292641246B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05 · DESIGN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EB88B8C5-6F43-499F-87FC-A273C4BA8BC6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The comparison isolates TALPer within the same 4L structure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7AA5C553-E639-4FE0-8FAA-9EE26EC0D4C7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44 fifth-grade students, 5 lessons on Ratios and Percentages, 2-week intervention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EF4D4F19-917E-43D0-A299-A9828EBBAB4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E88ADDA0-88D9-46CF-88C0-2DBD38B7E7D3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C81482-4F24-4DB0-967E-A69183625EF3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C4D5CE76-28CF-42AF-9955-205358E51048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6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717894AF-0817-4CC1-9FF6-689DD9A98448}"/>
              </a:ext>
            </a:extLst>
          </p:cNvPr>
          <p:cNvSpPr/>
          <p:nvPr/>
        </p:nvSpPr>
        <p:spPr>
          <a:xfrm>
            <a:off x="787400" y="1625600"/>
            <a:ext cx="2362200" cy="13208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BD316039-4134-4688-89EA-EB339CFF46E0}"/>
              </a:ext>
            </a:extLst>
          </p:cNvPr>
          <p:cNvSpPr txBox="1"/>
          <p:nvPr/>
        </p:nvSpPr>
        <p:spPr>
          <a:xfrm>
            <a:off x="965200" y="1879600"/>
            <a:ext cx="2006600" cy="4770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500" b="1">
                <a:solidFill>
                  <a:srgbClr val="041D34"/>
                </a:solidFill>
                <a:latin typeface="Calibri" panose="020F0502020204030204" pitchFamily="34" charset="0"/>
              </a:rPr>
              <a:t>44</a:t>
            </a:r>
            <a:endParaRPr lang="zh-TW" altLang="en-US" sz="2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38756D3D-F512-4A57-89DF-69B2F665DB7C}"/>
              </a:ext>
            </a:extLst>
          </p:cNvPr>
          <p:cNvSpPr txBox="1"/>
          <p:nvPr/>
        </p:nvSpPr>
        <p:spPr>
          <a:xfrm>
            <a:off x="965200" y="2362200"/>
            <a:ext cx="20066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58606C"/>
                </a:solidFill>
                <a:latin typeface="Calibri" panose="020F0502020204030204" pitchFamily="34" charset="0"/>
              </a:rPr>
              <a:t>fifth-grade students</a:t>
            </a:r>
            <a:endParaRPr lang="zh-TW" altLang="en-US" sz="11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5457FCE2-420F-4257-B019-2CEBD4B72161}"/>
              </a:ext>
            </a:extLst>
          </p:cNvPr>
          <p:cNvSpPr/>
          <p:nvPr/>
        </p:nvSpPr>
        <p:spPr>
          <a:xfrm>
            <a:off x="3556000" y="1625600"/>
            <a:ext cx="2362200" cy="13208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64187DA2-6468-4D3C-B4C4-9E56A1F1C189}"/>
              </a:ext>
            </a:extLst>
          </p:cNvPr>
          <p:cNvSpPr txBox="1"/>
          <p:nvPr/>
        </p:nvSpPr>
        <p:spPr>
          <a:xfrm>
            <a:off x="3733800" y="1879600"/>
            <a:ext cx="2006600" cy="4770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500" b="1">
                <a:solidFill>
                  <a:srgbClr val="041D34"/>
                </a:solidFill>
                <a:latin typeface="Calibri" panose="020F0502020204030204" pitchFamily="34" charset="0"/>
              </a:rPr>
              <a:t>21 / 23</a:t>
            </a:r>
            <a:endParaRPr lang="zh-TW" altLang="en-US" sz="2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771BE28B-59A2-4912-9DB4-F72D0CF183E3}"/>
              </a:ext>
            </a:extLst>
          </p:cNvPr>
          <p:cNvSpPr txBox="1"/>
          <p:nvPr/>
        </p:nvSpPr>
        <p:spPr>
          <a:xfrm>
            <a:off x="3733800" y="2362200"/>
            <a:ext cx="20066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58606C"/>
                </a:solidFill>
                <a:latin typeface="Calibri" panose="020F0502020204030204" pitchFamily="34" charset="0"/>
              </a:rPr>
              <a:t>experimental / control</a:t>
            </a:r>
            <a:endParaRPr lang="zh-TW" altLang="en-US" sz="11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073AD344-7CDF-43EB-B12C-8D649D47DF60}"/>
              </a:ext>
            </a:extLst>
          </p:cNvPr>
          <p:cNvSpPr/>
          <p:nvPr/>
        </p:nvSpPr>
        <p:spPr>
          <a:xfrm>
            <a:off x="6324600" y="1625600"/>
            <a:ext cx="2362200" cy="13208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8B20C61B-558E-476E-BF9A-E6E6D30F2D88}"/>
              </a:ext>
            </a:extLst>
          </p:cNvPr>
          <p:cNvSpPr txBox="1"/>
          <p:nvPr/>
        </p:nvSpPr>
        <p:spPr>
          <a:xfrm>
            <a:off x="6502400" y="1879600"/>
            <a:ext cx="2006600" cy="4770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500" b="1">
                <a:solidFill>
                  <a:srgbClr val="041D34"/>
                </a:solidFill>
                <a:latin typeface="Calibri" panose="020F0502020204030204" pitchFamily="34" charset="0"/>
              </a:rPr>
              <a:t>5</a:t>
            </a:r>
            <a:endParaRPr lang="zh-TW" altLang="en-US" sz="2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B2D6D137-3C0F-40CE-8142-4C5A22CADA44}"/>
              </a:ext>
            </a:extLst>
          </p:cNvPr>
          <p:cNvSpPr txBox="1"/>
          <p:nvPr/>
        </p:nvSpPr>
        <p:spPr>
          <a:xfrm>
            <a:off x="6502400" y="2362200"/>
            <a:ext cx="20066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58606C"/>
                </a:solidFill>
                <a:latin typeface="Calibri" panose="020F0502020204030204" pitchFamily="34" charset="0"/>
              </a:rPr>
              <a:t>lessons</a:t>
            </a:r>
            <a:endParaRPr lang="zh-TW" altLang="en-US" sz="11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xmlns="" id="{C6F001B0-0B4A-4D51-8210-EA521B30C644}"/>
              </a:ext>
            </a:extLst>
          </p:cNvPr>
          <p:cNvSpPr/>
          <p:nvPr/>
        </p:nvSpPr>
        <p:spPr>
          <a:xfrm>
            <a:off x="9093200" y="1625600"/>
            <a:ext cx="2362200" cy="13208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D1185845-CDEE-409A-B530-8886720BAD4A}"/>
              </a:ext>
            </a:extLst>
          </p:cNvPr>
          <p:cNvSpPr txBox="1"/>
          <p:nvPr/>
        </p:nvSpPr>
        <p:spPr>
          <a:xfrm>
            <a:off x="9271000" y="1879600"/>
            <a:ext cx="2006600" cy="4770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500" b="1">
                <a:solidFill>
                  <a:srgbClr val="041D34"/>
                </a:solidFill>
                <a:latin typeface="Calibri" panose="020F0502020204030204" pitchFamily="34" charset="0"/>
              </a:rPr>
              <a:t>2 weeks</a:t>
            </a:r>
            <a:endParaRPr lang="zh-TW" altLang="en-US" sz="2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98361671-0E2D-4B53-ACC6-A13589591FED}"/>
              </a:ext>
            </a:extLst>
          </p:cNvPr>
          <p:cNvSpPr txBox="1"/>
          <p:nvPr/>
        </p:nvSpPr>
        <p:spPr>
          <a:xfrm>
            <a:off x="9271000" y="2362200"/>
            <a:ext cx="20066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58606C"/>
                </a:solidFill>
                <a:latin typeface="Calibri" panose="020F0502020204030204" pitchFamily="34" charset="0"/>
              </a:rPr>
              <a:t>Ratios and Percentages</a:t>
            </a:r>
            <a:endParaRPr lang="zh-TW" altLang="en-US" sz="11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xmlns="" id="{A78A5209-C1ED-418E-9B6B-9EE1D0432836}"/>
              </a:ext>
            </a:extLst>
          </p:cNvPr>
          <p:cNvSpPr/>
          <p:nvPr/>
        </p:nvSpPr>
        <p:spPr>
          <a:xfrm>
            <a:off x="1143000" y="3632200"/>
            <a:ext cx="4191000" cy="1320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7461B7A9-6F02-4D67-8A97-D65D647DB856}"/>
              </a:ext>
            </a:extLst>
          </p:cNvPr>
          <p:cNvSpPr txBox="1"/>
          <p:nvPr/>
        </p:nvSpPr>
        <p:spPr>
          <a:xfrm>
            <a:off x="1409700" y="3911600"/>
            <a:ext cx="3657600" cy="4154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100" b="1">
                <a:solidFill>
                  <a:srgbClr val="FFFFFF"/>
                </a:solidFill>
                <a:latin typeface="Calibri" panose="020F0502020204030204" pitchFamily="34" charset="0"/>
              </a:rPr>
              <a:t>Experimental group</a:t>
            </a:r>
            <a:endParaRPr lang="zh-TW" altLang="en-US" sz="2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DA551A23-55B4-4001-9916-2F58F5B1BF03}"/>
              </a:ext>
            </a:extLst>
          </p:cNvPr>
          <p:cNvSpPr txBox="1"/>
          <p:nvPr/>
        </p:nvSpPr>
        <p:spPr>
          <a:xfrm>
            <a:off x="1422400" y="4419600"/>
            <a:ext cx="36322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>
                <a:solidFill>
                  <a:srgbClr val="FFFFFF"/>
                </a:solidFill>
                <a:latin typeface="Calibri" panose="020F0502020204030204" pitchFamily="34" charset="0"/>
              </a:rPr>
              <a:t>SRL 4L instruction + TALPer support</a:t>
            </a:r>
            <a:endParaRPr lang="zh-TW" altLang="en-US" sz="1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xmlns="" id="{6E617C11-878A-49AF-99E1-2E61E2EB44AA}"/>
              </a:ext>
            </a:extLst>
          </p:cNvPr>
          <p:cNvSpPr/>
          <p:nvPr/>
        </p:nvSpPr>
        <p:spPr>
          <a:xfrm>
            <a:off x="6858000" y="3632200"/>
            <a:ext cx="4191000" cy="1320800"/>
          </a:xfrm>
          <a:prstGeom prst="roundRect">
            <a:avLst/>
          </a:prstGeom>
          <a:solidFill>
            <a:srgbClr val="5860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51230444-154B-4584-8010-A74761B1DE15}"/>
              </a:ext>
            </a:extLst>
          </p:cNvPr>
          <p:cNvSpPr txBox="1"/>
          <p:nvPr/>
        </p:nvSpPr>
        <p:spPr>
          <a:xfrm>
            <a:off x="7124700" y="3911600"/>
            <a:ext cx="3657600" cy="4154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100" b="1">
                <a:solidFill>
                  <a:srgbClr val="FFFFFF"/>
                </a:solidFill>
                <a:latin typeface="Calibri" panose="020F0502020204030204" pitchFamily="34" charset="0"/>
              </a:rPr>
              <a:t>Control group</a:t>
            </a:r>
            <a:endParaRPr lang="zh-TW" altLang="en-US" sz="2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41E4AA41-8EFA-4B49-B24C-EBB538DA1B37}"/>
              </a:ext>
            </a:extLst>
          </p:cNvPr>
          <p:cNvSpPr txBox="1"/>
          <p:nvPr/>
        </p:nvSpPr>
        <p:spPr>
          <a:xfrm>
            <a:off x="7137400" y="4419600"/>
            <a:ext cx="36322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>
                <a:solidFill>
                  <a:srgbClr val="FFFFFF"/>
                </a:solidFill>
                <a:latin typeface="Calibri" panose="020F0502020204030204" pitchFamily="34" charset="0"/>
              </a:rPr>
              <a:t>Same SRL 4L structure, no TALPer access</a:t>
            </a:r>
            <a:endParaRPr lang="zh-TW" altLang="en-US" sz="1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0DF6B413-6C06-435E-9015-C28A9FBD1B4E}"/>
              </a:ext>
            </a:extLst>
          </p:cNvPr>
          <p:cNvSpPr txBox="1"/>
          <p:nvPr/>
        </p:nvSpPr>
        <p:spPr>
          <a:xfrm>
            <a:off x="3086100" y="5384800"/>
            <a:ext cx="60198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DD8F1C"/>
                </a:solidFill>
                <a:latin typeface="Calibri" panose="020F0502020204030204" pitchFamily="34" charset="0"/>
              </a:rPr>
              <a:t>Baseline pre-test difference: not significant (p = .376)</a:t>
            </a:r>
            <a:endParaRPr lang="zh-TW" altLang="en-US" sz="15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8E227728-82FA-4170-8589-71E960AE54B5}"/>
              </a:ext>
            </a:extLst>
          </p:cNvPr>
          <p:cNvSpPr/>
          <p:nvPr/>
        </p:nvSpPr>
        <p:spPr>
          <a:xfrm>
            <a:off x="304800" y="1498600"/>
            <a:ext cx="11582400" cy="4851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6DCC7238-2289-4ECC-ABC0-EA7783C9DFAD}"/>
              </a:ext>
            </a:extLst>
          </p:cNvPr>
          <p:cNvSpPr txBox="1"/>
          <p:nvPr/>
        </p:nvSpPr>
        <p:spPr>
          <a:xfrm>
            <a:off x="685800" y="1549400"/>
            <a:ext cx="10795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b="1">
                <a:solidFill>
                  <a:srgbClr val="041D34"/>
                </a:solidFill>
                <a:latin typeface="Calibri" panose="020F0502020204030204" pitchFamily="34" charset="0"/>
              </a:rPr>
              <a:t>Original SRL 4L teaching process from the source deck</a:t>
            </a:r>
            <a:endParaRPr lang="zh-TW" altLang="en-US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xmlns="" id="{30D98821-E8F1-4B01-9509-A91E2760F8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955800"/>
            <a:ext cx="11023600" cy="3898900"/>
          </a:xfrm>
          <a:prstGeom prst="rect">
            <a:avLst/>
          </a:prstGeom>
        </p:spPr>
      </p:pic>
      <p:sp>
        <p:nvSpPr>
          <p:cNvPr id="34" name="矩形: 圓角 33">
            <a:extLst>
              <a:ext uri="{FF2B5EF4-FFF2-40B4-BE49-F238E27FC236}">
                <a16:creationId xmlns:a16="http://schemas.microsoft.com/office/drawing/2014/main" xmlns="" id="{3992D754-EC5C-44CC-A8BC-2CFB85ABE03D}"/>
              </a:ext>
            </a:extLst>
          </p:cNvPr>
          <p:cNvSpPr/>
          <p:nvPr/>
        </p:nvSpPr>
        <p:spPr>
          <a:xfrm>
            <a:off x="889000" y="5918200"/>
            <a:ext cx="2921000" cy="4572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9FA0CFCA-E3B1-45FC-B74C-958C2D92E3F6}"/>
              </a:ext>
            </a:extLst>
          </p:cNvPr>
          <p:cNvSpPr txBox="1"/>
          <p:nvPr/>
        </p:nvSpPr>
        <p:spPr>
          <a:xfrm>
            <a:off x="1041400" y="6007100"/>
            <a:ext cx="26162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1E5296"/>
                </a:solidFill>
                <a:latin typeface="Calibri" panose="020F0502020204030204" pitchFamily="34" charset="0"/>
              </a:rPr>
              <a:t>Pre-class TALPer self-learning</a:t>
            </a:r>
            <a:endParaRPr lang="zh-TW" altLang="en-US" sz="12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xmlns="" id="{0EB5DB60-F914-4026-9DA6-0962AEAC2166}"/>
              </a:ext>
            </a:extLst>
          </p:cNvPr>
          <p:cNvSpPr/>
          <p:nvPr/>
        </p:nvSpPr>
        <p:spPr>
          <a:xfrm>
            <a:off x="4572000" y="5918200"/>
            <a:ext cx="3048000" cy="4572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20F6E197-3E12-406C-94E8-C1A3AD8F0EF1}"/>
              </a:ext>
            </a:extLst>
          </p:cNvPr>
          <p:cNvSpPr txBox="1"/>
          <p:nvPr/>
        </p:nvSpPr>
        <p:spPr>
          <a:xfrm>
            <a:off x="4724400" y="6007100"/>
            <a:ext cx="27432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368764"/>
                </a:solidFill>
                <a:latin typeface="Calibri" panose="020F0502020204030204" pitchFamily="34" charset="0"/>
              </a:rPr>
              <a:t>In-class 4L discussion sequence</a:t>
            </a:r>
            <a:endParaRPr lang="zh-TW" altLang="en-US" sz="12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xmlns="" id="{E0302AC3-2F63-4FB4-BC7E-4FF4490069F5}"/>
              </a:ext>
            </a:extLst>
          </p:cNvPr>
          <p:cNvSpPr/>
          <p:nvPr/>
        </p:nvSpPr>
        <p:spPr>
          <a:xfrm>
            <a:off x="8382000" y="5918200"/>
            <a:ext cx="2921000" cy="457200"/>
          </a:xfrm>
          <a:prstGeom prst="roundRect">
            <a:avLst/>
          </a:prstGeom>
          <a:solidFill>
            <a:srgbClr val="FFF4DA"/>
          </a:solidFill>
          <a:ln>
            <a:solidFill>
              <a:srgbClr val="DD8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xmlns="" id="{5F15313F-F160-4955-93F3-FE72D02B48A3}"/>
              </a:ext>
            </a:extLst>
          </p:cNvPr>
          <p:cNvSpPr txBox="1"/>
          <p:nvPr/>
        </p:nvSpPr>
        <p:spPr>
          <a:xfrm>
            <a:off x="8534400" y="6007100"/>
            <a:ext cx="26162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DD8F1C"/>
                </a:solidFill>
                <a:latin typeface="Calibri" panose="020F0502020204030204" pitchFamily="34" charset="0"/>
              </a:rPr>
              <a:t>Post-class review and exercises</a:t>
            </a:r>
            <a:endParaRPr lang="zh-TW" altLang="en-US" sz="12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7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6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69101FF0-2CF2-4F72-9A2C-3E3FF42FD390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D5C35FB-C270-4A63-B23F-2E4D75D98E45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EF19B57C-0F06-490B-B861-C25290BA5C75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06 · ANALYSIS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FE455606-2FC4-4283-867D-2A328570D99D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The analysis moves from scores to learning-process structure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F793B481-FB75-4FC2-87D3-050DB59B62ED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Pre/post test, ANCOVA, SRL coding, and Epistemic Network Analysis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F38F98DC-3D61-4BB4-BB0C-352AB7C930B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D7B6657F-ABED-45A0-B088-24E84997A5C0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240EF604-6B51-4691-B4CE-E4AACF95C7FC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94C7FB61-9783-4423-BC55-D7F3A99EEABA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7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78CC53D3-B97F-44FB-8E86-EED375F095FE}"/>
              </a:ext>
            </a:extLst>
          </p:cNvPr>
          <p:cNvSpPr/>
          <p:nvPr/>
        </p:nvSpPr>
        <p:spPr>
          <a:xfrm>
            <a:off x="1295400" y="1960420"/>
            <a:ext cx="2413000" cy="1955800"/>
          </a:xfrm>
          <a:prstGeom prst="round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6A2B4A97-7090-4145-8CF8-0BAC65B82BC7}"/>
              </a:ext>
            </a:extLst>
          </p:cNvPr>
          <p:cNvSpPr txBox="1"/>
          <p:nvPr/>
        </p:nvSpPr>
        <p:spPr>
          <a:xfrm>
            <a:off x="1485900" y="2316020"/>
            <a:ext cx="2032000" cy="63094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3600" b="1">
                <a:solidFill>
                  <a:srgbClr val="FFFFFF"/>
                </a:solidFill>
                <a:latin typeface="Calibri" panose="020F0502020204030204" pitchFamily="34" charset="0"/>
              </a:rPr>
              <a:t>Outcome</a:t>
            </a:r>
            <a:endParaRPr lang="zh-TW" altLang="en-US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D2A54160-EB16-4F66-A323-51D2A8504D65}"/>
              </a:ext>
            </a:extLst>
          </p:cNvPr>
          <p:cNvSpPr txBox="1"/>
          <p:nvPr/>
        </p:nvSpPr>
        <p:spPr>
          <a:xfrm>
            <a:off x="1524000" y="2925620"/>
            <a:ext cx="1955800" cy="9079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Pre/post tests</a:t>
            </a:r>
          </a:p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ANCOVA with pre-test covariate</a:t>
            </a:r>
            <a:endParaRPr lang="zh-TW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0848FF3C-83B2-4FDB-A8C1-B4D1ADBFD820}"/>
              </a:ext>
            </a:extLst>
          </p:cNvPr>
          <p:cNvSpPr/>
          <p:nvPr/>
        </p:nvSpPr>
        <p:spPr>
          <a:xfrm>
            <a:off x="4648200" y="1960420"/>
            <a:ext cx="2413000" cy="19558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B03C91EC-A70B-4F93-BC72-8770BB442A61}"/>
              </a:ext>
            </a:extLst>
          </p:cNvPr>
          <p:cNvSpPr txBox="1"/>
          <p:nvPr/>
        </p:nvSpPr>
        <p:spPr>
          <a:xfrm>
            <a:off x="4838700" y="2316020"/>
            <a:ext cx="2032000" cy="63094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3600" b="1">
                <a:solidFill>
                  <a:srgbClr val="FFFFFF"/>
                </a:solidFill>
                <a:latin typeface="Calibri" panose="020F0502020204030204" pitchFamily="34" charset="0"/>
              </a:rPr>
              <a:t>Process</a:t>
            </a:r>
            <a:endParaRPr lang="zh-TW" altLang="en-US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0DB1D93B-0FBD-4306-82D9-5404D33DE5EC}"/>
              </a:ext>
            </a:extLst>
          </p:cNvPr>
          <p:cNvSpPr txBox="1"/>
          <p:nvPr/>
        </p:nvSpPr>
        <p:spPr>
          <a:xfrm>
            <a:off x="4876800" y="2925620"/>
            <a:ext cx="1955800" cy="9079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SRL coding</a:t>
            </a:r>
          </a:p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Metacognition x cognition</a:t>
            </a:r>
            <a:endParaRPr lang="zh-TW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1D49B3F4-1FF8-4B0E-B1C5-1F29D9AB8A24}"/>
              </a:ext>
            </a:extLst>
          </p:cNvPr>
          <p:cNvSpPr/>
          <p:nvPr/>
        </p:nvSpPr>
        <p:spPr>
          <a:xfrm>
            <a:off x="8001000" y="1960420"/>
            <a:ext cx="2413000" cy="19558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4D2F7412-B840-4638-B8A0-2BFDD48A04BE}"/>
              </a:ext>
            </a:extLst>
          </p:cNvPr>
          <p:cNvSpPr txBox="1"/>
          <p:nvPr/>
        </p:nvSpPr>
        <p:spPr>
          <a:xfrm>
            <a:off x="8191500" y="2316020"/>
            <a:ext cx="2032000" cy="63094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3600" b="1">
                <a:solidFill>
                  <a:srgbClr val="FFFFFF"/>
                </a:solidFill>
                <a:latin typeface="Calibri" panose="020F0502020204030204" pitchFamily="34" charset="0"/>
              </a:rPr>
              <a:t>Structure</a:t>
            </a:r>
            <a:endParaRPr lang="zh-TW" altLang="en-US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99BD29CC-9C52-4A1E-8705-42E098E13F65}"/>
              </a:ext>
            </a:extLst>
          </p:cNvPr>
          <p:cNvSpPr txBox="1"/>
          <p:nvPr/>
        </p:nvSpPr>
        <p:spPr>
          <a:xfrm>
            <a:off x="8229600" y="2925620"/>
            <a:ext cx="1955800" cy="9079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ENA</a:t>
            </a:r>
          </a:p>
          <a:p>
            <a:pPr algn="ctr"/>
            <a:r>
              <a:rPr lang="en-US" altLang="zh-TW">
                <a:solidFill>
                  <a:srgbClr val="FFFFFF"/>
                </a:solidFill>
                <a:latin typeface="Calibri" panose="020F0502020204030204" pitchFamily="34" charset="0"/>
              </a:rPr>
              <a:t>Co-occurring strategy networks</a:t>
            </a:r>
            <a:endParaRPr lang="zh-TW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00206F76-E650-4FA8-AF6B-35EF39CA6CEB}"/>
              </a:ext>
            </a:extLst>
          </p:cNvPr>
          <p:cNvSpPr txBox="1"/>
          <p:nvPr/>
        </p:nvSpPr>
        <p:spPr>
          <a:xfrm>
            <a:off x="2057400" y="4648200"/>
            <a:ext cx="8077200" cy="118494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400" b="1">
                <a:solidFill>
                  <a:srgbClr val="041D34"/>
                </a:solidFill>
                <a:latin typeface="Calibri" panose="020F0502020204030204" pitchFamily="34" charset="0"/>
              </a:rPr>
              <a:t>Why ENA: it shows not only how often strategies appear, but how cognitive and metacognitive actions connect during learning.</a:t>
            </a:r>
            <a:endParaRPr lang="zh-TW" altLang="en-US" sz="24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5279276-32F6-4E46-BA9E-4971AABC5E80}"/>
              </a:ext>
            </a:extLst>
          </p:cNvPr>
          <p:cNvSpPr/>
          <p:nvPr/>
        </p:nvSpPr>
        <p:spPr>
          <a:xfrm>
            <a:off x="304800" y="1498600"/>
            <a:ext cx="11582400" cy="4851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C6594A47-5952-4185-BFEE-52672A18970D}"/>
              </a:ext>
            </a:extLst>
          </p:cNvPr>
          <p:cNvSpPr txBox="1"/>
          <p:nvPr/>
        </p:nvSpPr>
        <p:spPr>
          <a:xfrm>
            <a:off x="609600" y="1630220"/>
            <a:ext cx="10896600" cy="5693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3200" b="1">
                <a:solidFill>
                  <a:srgbClr val="041D34"/>
                </a:solidFill>
                <a:latin typeface="Calibri" panose="020F0502020204030204" pitchFamily="34" charset="0"/>
              </a:rPr>
              <a:t>Coding framework connects TALPer dialogue to ENA networks</a:t>
            </a:r>
            <a:endParaRPr lang="zh-TW" altLang="en-US" sz="32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xmlns="" id="{A86D3F5B-F0AF-43B1-8796-79B3A290B9E9}"/>
              </a:ext>
            </a:extLst>
          </p:cNvPr>
          <p:cNvSpPr/>
          <p:nvPr/>
        </p:nvSpPr>
        <p:spPr>
          <a:xfrm>
            <a:off x="685800" y="2108200"/>
            <a:ext cx="5054600" cy="3378200"/>
          </a:xfrm>
          <a:prstGeom prst="roundRect">
            <a:avLst/>
          </a:prstGeom>
          <a:solidFill>
            <a:srgbClr val="F3F7FB"/>
          </a:solidFill>
          <a:ln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33DE81EC-6A80-468E-B25E-F56ABB0F7957}"/>
              </a:ext>
            </a:extLst>
          </p:cNvPr>
          <p:cNvSpPr txBox="1"/>
          <p:nvPr/>
        </p:nvSpPr>
        <p:spPr>
          <a:xfrm>
            <a:off x="990600" y="2366820"/>
            <a:ext cx="4445000" cy="50783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800" b="1">
                <a:solidFill>
                  <a:srgbClr val="041D34"/>
                </a:solidFill>
                <a:latin typeface="Calibri" panose="020F0502020204030204" pitchFamily="34" charset="0"/>
              </a:rPr>
              <a:t>SRL dialogue coding</a:t>
            </a:r>
            <a:endParaRPr lang="zh-TW" altLang="en-US" sz="28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1C8987D2-13B8-42B8-BC77-E01A729B09CF}"/>
              </a:ext>
            </a:extLst>
          </p:cNvPr>
          <p:cNvSpPr txBox="1"/>
          <p:nvPr/>
        </p:nvSpPr>
        <p:spPr>
          <a:xfrm>
            <a:off x="1016000" y="2722420"/>
            <a:ext cx="4419600" cy="9079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>
                <a:solidFill>
                  <a:srgbClr val="58606C"/>
                </a:solidFill>
                <a:latin typeface="Calibri" panose="020F0502020204030204" pitchFamily="34" charset="0"/>
              </a:rPr>
              <a:t>Students' TALPer dialogues were coded into metacognitive and cognitive learning behaviors.</a:t>
            </a:r>
            <a:endParaRPr lang="zh-TW" altLang="en-US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02D4CBA9-F96F-423A-8086-DF0F9987AADD}"/>
              </a:ext>
            </a:extLst>
          </p:cNvPr>
          <p:cNvSpPr txBox="1"/>
          <p:nvPr/>
        </p:nvSpPr>
        <p:spPr>
          <a:xfrm>
            <a:off x="990600" y="3281220"/>
            <a:ext cx="1905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1E5296"/>
                </a:solidFill>
                <a:latin typeface="Calibri" panose="020F0502020204030204" pitchFamily="34" charset="0"/>
              </a:rPr>
              <a:t>Metacognitive</a:t>
            </a:r>
            <a:endParaRPr lang="zh-TW" altLang="en-US" sz="20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xmlns="" id="{4ABF7B8F-C406-4BC4-93B3-260F4112FE78}"/>
              </a:ext>
            </a:extLst>
          </p:cNvPr>
          <p:cNvSpPr/>
          <p:nvPr/>
        </p:nvSpPr>
        <p:spPr>
          <a:xfrm>
            <a:off x="889000" y="36114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4360CF34-007A-4BDD-917B-B6B8750A1232}"/>
              </a:ext>
            </a:extLst>
          </p:cNvPr>
          <p:cNvSpPr txBox="1"/>
          <p:nvPr/>
        </p:nvSpPr>
        <p:spPr>
          <a:xfrm>
            <a:off x="990600" y="36876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1E5296"/>
                </a:solidFill>
                <a:latin typeface="Calibri" panose="020F0502020204030204" pitchFamily="34" charset="0"/>
              </a:rPr>
              <a:t>Goal setting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xmlns="" id="{6134AC25-6C0F-44EF-9903-7968B64C26CB}"/>
              </a:ext>
            </a:extLst>
          </p:cNvPr>
          <p:cNvSpPr/>
          <p:nvPr/>
        </p:nvSpPr>
        <p:spPr>
          <a:xfrm>
            <a:off x="889000" y="41067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8E829C4F-6959-437C-B7CB-F225DDAA9F99}"/>
              </a:ext>
            </a:extLst>
          </p:cNvPr>
          <p:cNvSpPr txBox="1"/>
          <p:nvPr/>
        </p:nvSpPr>
        <p:spPr>
          <a:xfrm>
            <a:off x="990600" y="41829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1E5296"/>
                </a:solidFill>
                <a:latin typeface="Calibri" panose="020F0502020204030204" pitchFamily="34" charset="0"/>
              </a:rPr>
              <a:t>Strategy selection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xmlns="" id="{5C112F7A-E307-47FE-B72C-B0B5F35FA3E8}"/>
              </a:ext>
            </a:extLst>
          </p:cNvPr>
          <p:cNvSpPr/>
          <p:nvPr/>
        </p:nvSpPr>
        <p:spPr>
          <a:xfrm>
            <a:off x="889000" y="46020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7FC210A9-2873-4E82-B442-5ECFDA536A94}"/>
              </a:ext>
            </a:extLst>
          </p:cNvPr>
          <p:cNvSpPr txBox="1"/>
          <p:nvPr/>
        </p:nvSpPr>
        <p:spPr>
          <a:xfrm>
            <a:off x="990600" y="46782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1E5296"/>
                </a:solidFill>
                <a:latin typeface="Calibri" panose="020F0502020204030204" pitchFamily="34" charset="0"/>
              </a:rPr>
              <a:t>Monitoring / evaluation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xmlns="" id="{17A7285E-9936-4859-B9D7-C5EA49C4CD02}"/>
              </a:ext>
            </a:extLst>
          </p:cNvPr>
          <p:cNvSpPr/>
          <p:nvPr/>
        </p:nvSpPr>
        <p:spPr>
          <a:xfrm>
            <a:off x="863600" y="5971232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0B284D1A-BDD0-4E40-AA04-D695B50BC3A5}"/>
              </a:ext>
            </a:extLst>
          </p:cNvPr>
          <p:cNvSpPr txBox="1"/>
          <p:nvPr/>
        </p:nvSpPr>
        <p:spPr>
          <a:xfrm>
            <a:off x="965200" y="6047432"/>
            <a:ext cx="19558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1E5296"/>
                </a:solidFill>
                <a:latin typeface="Calibri" panose="020F0502020204030204" pitchFamily="34" charset="0"/>
              </a:rPr>
              <a:t>Reflection</a:t>
            </a:r>
            <a:endParaRPr lang="zh-TW" altLang="en-US" sz="11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AD9E85DA-30B2-4B13-BD4F-B1F77E478D11}"/>
              </a:ext>
            </a:extLst>
          </p:cNvPr>
          <p:cNvSpPr txBox="1"/>
          <p:nvPr/>
        </p:nvSpPr>
        <p:spPr>
          <a:xfrm>
            <a:off x="3454400" y="3281220"/>
            <a:ext cx="1651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368764"/>
                </a:solidFill>
                <a:latin typeface="Calibri" panose="020F0502020204030204" pitchFamily="34" charset="0"/>
              </a:rPr>
              <a:t>Cognitive</a:t>
            </a:r>
            <a:endParaRPr lang="zh-TW" altLang="en-US" sz="20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xmlns="" id="{343BDB79-C162-4F87-8FDD-808886BD2881}"/>
              </a:ext>
            </a:extLst>
          </p:cNvPr>
          <p:cNvSpPr/>
          <p:nvPr/>
        </p:nvSpPr>
        <p:spPr>
          <a:xfrm>
            <a:off x="3276600" y="36114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38682243-6DC9-4309-867B-0A896503B15C}"/>
              </a:ext>
            </a:extLst>
          </p:cNvPr>
          <p:cNvSpPr txBox="1"/>
          <p:nvPr/>
        </p:nvSpPr>
        <p:spPr>
          <a:xfrm>
            <a:off x="3378200" y="36876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368764"/>
                </a:solidFill>
                <a:latin typeface="Calibri" panose="020F0502020204030204" pitchFamily="34" charset="0"/>
              </a:rPr>
              <a:t>Conceptual question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xmlns="" id="{FAA9C03E-8460-4F28-8719-B98342ADDCD7}"/>
              </a:ext>
            </a:extLst>
          </p:cNvPr>
          <p:cNvSpPr/>
          <p:nvPr/>
        </p:nvSpPr>
        <p:spPr>
          <a:xfrm>
            <a:off x="3276600" y="41067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xmlns="" id="{EEBA5D03-4A3D-489C-B7E5-52BC9DF2F057}"/>
              </a:ext>
            </a:extLst>
          </p:cNvPr>
          <p:cNvSpPr txBox="1"/>
          <p:nvPr/>
        </p:nvSpPr>
        <p:spPr>
          <a:xfrm>
            <a:off x="3378200" y="41829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368764"/>
                </a:solidFill>
                <a:latin typeface="Calibri" panose="020F0502020204030204" pitchFamily="34" charset="0"/>
              </a:rPr>
              <a:t>Conceptual explanation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xmlns="" id="{5DE505B8-1362-4039-A45D-FBA2E2B70AE2}"/>
              </a:ext>
            </a:extLst>
          </p:cNvPr>
          <p:cNvSpPr/>
          <p:nvPr/>
        </p:nvSpPr>
        <p:spPr>
          <a:xfrm>
            <a:off x="3276600" y="46020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xmlns="" id="{1EBD9984-8141-40EF-8B9E-DDDF3579759C}"/>
              </a:ext>
            </a:extLst>
          </p:cNvPr>
          <p:cNvSpPr txBox="1"/>
          <p:nvPr/>
        </p:nvSpPr>
        <p:spPr>
          <a:xfrm>
            <a:off x="3378200" y="46782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>
                <a:solidFill>
                  <a:srgbClr val="368764"/>
                </a:solidFill>
                <a:latin typeface="Calibri" panose="020F0502020204030204" pitchFamily="34" charset="0"/>
              </a:rPr>
              <a:t>Procedural question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xmlns="" id="{83AB816A-F174-4D32-A896-AB29B253B2D8}"/>
              </a:ext>
            </a:extLst>
          </p:cNvPr>
          <p:cNvSpPr/>
          <p:nvPr/>
        </p:nvSpPr>
        <p:spPr>
          <a:xfrm>
            <a:off x="3251200" y="5971232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xmlns="" id="{173C5B66-683A-415F-9A3D-345B75D77F3F}"/>
              </a:ext>
            </a:extLst>
          </p:cNvPr>
          <p:cNvSpPr txBox="1"/>
          <p:nvPr/>
        </p:nvSpPr>
        <p:spPr>
          <a:xfrm>
            <a:off x="3352800" y="6047432"/>
            <a:ext cx="19558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368764"/>
                </a:solidFill>
                <a:latin typeface="Calibri" panose="020F0502020204030204" pitchFamily="34" charset="0"/>
              </a:rPr>
              <a:t>Procedural execution</a:t>
            </a:r>
            <a:endParaRPr lang="zh-TW" altLang="en-US" sz="11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xmlns="" id="{62DBDB3F-0DD7-4FD9-8899-462299A27E31}"/>
              </a:ext>
            </a:extLst>
          </p:cNvPr>
          <p:cNvSpPr/>
          <p:nvPr/>
        </p:nvSpPr>
        <p:spPr>
          <a:xfrm>
            <a:off x="6426200" y="2108200"/>
            <a:ext cx="5054600" cy="3378200"/>
          </a:xfrm>
          <a:prstGeom prst="roundRect">
            <a:avLst/>
          </a:prstGeom>
          <a:solidFill>
            <a:srgbClr val="F3F7FB"/>
          </a:solidFill>
          <a:ln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xmlns="" id="{49114900-03C1-443B-BDA4-26FEA0ADC191}"/>
              </a:ext>
            </a:extLst>
          </p:cNvPr>
          <p:cNvSpPr txBox="1"/>
          <p:nvPr/>
        </p:nvSpPr>
        <p:spPr>
          <a:xfrm>
            <a:off x="6731000" y="2366820"/>
            <a:ext cx="4445000" cy="50783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800" b="1">
                <a:solidFill>
                  <a:srgbClr val="041D34"/>
                </a:solidFill>
                <a:latin typeface="Calibri" panose="020F0502020204030204" pitchFamily="34" charset="0"/>
              </a:rPr>
              <a:t>From codes to ENA</a:t>
            </a:r>
            <a:endParaRPr lang="zh-TW" altLang="en-US" sz="28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xmlns="" id="{D70E06CC-0A0F-4F83-8E56-ED99B8AE96FB}"/>
              </a:ext>
            </a:extLst>
          </p:cNvPr>
          <p:cNvSpPr txBox="1"/>
          <p:nvPr/>
        </p:nvSpPr>
        <p:spPr>
          <a:xfrm>
            <a:off x="6756400" y="2747820"/>
            <a:ext cx="4368800" cy="90794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>
                <a:solidFill>
                  <a:srgbClr val="58606C"/>
                </a:solidFill>
                <a:latin typeface="Calibri" panose="020F0502020204030204" pitchFamily="34" charset="0"/>
              </a:rPr>
              <a:t>ENA does not only count behaviors. It models how coded behaviors co-occur and form learning-process structures.</a:t>
            </a:r>
            <a:endParaRPr lang="zh-TW" altLang="en-US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xmlns="" id="{0250A0C3-B006-442B-A7E2-8CC8F10E08A3}"/>
              </a:ext>
            </a:extLst>
          </p:cNvPr>
          <p:cNvSpPr/>
          <p:nvPr/>
        </p:nvSpPr>
        <p:spPr>
          <a:xfrm>
            <a:off x="7112000" y="3382820"/>
            <a:ext cx="3683000" cy="5461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xmlns="" id="{08708BA8-84E9-4244-8E77-0B5C47C6F4C5}"/>
              </a:ext>
            </a:extLst>
          </p:cNvPr>
          <p:cNvSpPr txBox="1"/>
          <p:nvPr/>
        </p:nvSpPr>
        <p:spPr>
          <a:xfrm>
            <a:off x="7302500" y="3535220"/>
            <a:ext cx="3302000" cy="69249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fr-FR" altLang="zh-TW" sz="2000" b="1">
                <a:solidFill>
                  <a:srgbClr val="1E5296"/>
                </a:solidFill>
                <a:latin typeface="Calibri" panose="020F0502020204030204" pitchFamily="34" charset="0"/>
              </a:rPr>
              <a:t>1. Segment TALPer dialogue events</a:t>
            </a:r>
            <a:endParaRPr lang="zh-TW" altLang="en-US" sz="20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xmlns="" id="{6AFAA241-C8B9-45F7-9567-3B19B097A01B}"/>
              </a:ext>
            </a:extLst>
          </p:cNvPr>
          <p:cNvSpPr/>
          <p:nvPr/>
        </p:nvSpPr>
        <p:spPr>
          <a:xfrm>
            <a:off x="7112000" y="4144820"/>
            <a:ext cx="3683000" cy="546100"/>
          </a:xfrm>
          <a:prstGeom prst="roundRect">
            <a:avLst/>
          </a:prstGeom>
          <a:solidFill>
            <a:srgbClr val="FFF4DA"/>
          </a:solidFill>
          <a:ln>
            <a:solidFill>
              <a:srgbClr val="DD8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xmlns="" id="{CBC8EF60-AAE4-4DFD-A419-916C53C3A3AA}"/>
              </a:ext>
            </a:extLst>
          </p:cNvPr>
          <p:cNvSpPr txBox="1"/>
          <p:nvPr/>
        </p:nvSpPr>
        <p:spPr>
          <a:xfrm>
            <a:off x="7302500" y="4297220"/>
            <a:ext cx="3302000" cy="69249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DD8F1C"/>
                </a:solidFill>
                <a:latin typeface="Calibri" panose="020F0502020204030204" pitchFamily="34" charset="0"/>
              </a:rPr>
              <a:t>2. Apply SRL coding categories</a:t>
            </a:r>
            <a:endParaRPr lang="zh-TW" altLang="en-US" sz="20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xmlns="" id="{32050A2E-4581-4E68-8B1D-1F8DA8623D09}"/>
              </a:ext>
            </a:extLst>
          </p:cNvPr>
          <p:cNvSpPr/>
          <p:nvPr/>
        </p:nvSpPr>
        <p:spPr>
          <a:xfrm>
            <a:off x="7112000" y="4851400"/>
            <a:ext cx="3683000" cy="546100"/>
          </a:xfrm>
          <a:prstGeom prst="roundRect">
            <a:avLst/>
          </a:prstGeom>
          <a:solidFill>
            <a:srgbClr val="FAE5E7"/>
          </a:solidFill>
          <a:ln>
            <a:solidFill>
              <a:srgbClr val="BB3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xmlns="" id="{5B739048-2A7B-49F8-9B18-47C3E60A8E76}"/>
              </a:ext>
            </a:extLst>
          </p:cNvPr>
          <p:cNvSpPr txBox="1"/>
          <p:nvPr/>
        </p:nvSpPr>
        <p:spPr>
          <a:xfrm>
            <a:off x="7277100" y="5933132"/>
            <a:ext cx="33020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b="1">
                <a:solidFill>
                  <a:srgbClr val="BB3D44"/>
                </a:solidFill>
                <a:latin typeface="Calibri" panose="020F0502020204030204" pitchFamily="34" charset="0"/>
              </a:rPr>
              <a:t>3. Compare co-occurrence networks</a:t>
            </a:r>
            <a:endParaRPr lang="zh-TW" altLang="en-US" sz="1600" b="1">
              <a:solidFill>
                <a:srgbClr val="BB3D44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xmlns="" id="{A6F0A3CE-B354-47B4-B700-1D743D9CEBEB}"/>
              </a:ext>
            </a:extLst>
          </p:cNvPr>
          <p:cNvSpPr txBox="1"/>
          <p:nvPr/>
        </p:nvSpPr>
        <p:spPr>
          <a:xfrm>
            <a:off x="1143000" y="5740400"/>
            <a:ext cx="9906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b="1">
                <a:solidFill>
                  <a:srgbClr val="041D34"/>
                </a:solidFill>
                <a:latin typeface="Calibri" panose="020F0502020204030204" pitchFamily="34" charset="0"/>
              </a:rPr>
              <a:t>Purpose: show whether students connect planning, inquiry, execution, monitoring, and reflection when learning with TALPer.</a:t>
            </a:r>
            <a:endParaRPr lang="zh-TW" altLang="en-US" sz="12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11200" y="3429000"/>
            <a:ext cx="5029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990600" y="3281220"/>
            <a:ext cx="1905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 smtClean="0">
                <a:solidFill>
                  <a:srgbClr val="1E5296"/>
                </a:solidFill>
                <a:latin typeface="Calibri" panose="020F0502020204030204" pitchFamily="34" charset="0"/>
              </a:rPr>
              <a:t>Metacognitive</a:t>
            </a:r>
            <a:endParaRPr lang="zh-TW" altLang="en-US" sz="20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圓角矩形 55"/>
          <p:cNvSpPr/>
          <p:nvPr/>
        </p:nvSpPr>
        <p:spPr>
          <a:xfrm>
            <a:off x="889000" y="36114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57" name="文字方塊 56"/>
          <p:cNvSpPr txBox="1"/>
          <p:nvPr/>
        </p:nvSpPr>
        <p:spPr>
          <a:xfrm>
            <a:off x="990600" y="36876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M.SG  Goal setting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889000" y="41067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59" name="文字方塊 58"/>
          <p:cNvSpPr txBox="1"/>
          <p:nvPr/>
        </p:nvSpPr>
        <p:spPr>
          <a:xfrm>
            <a:off x="990600" y="41829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M.SS  Strategy selection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圓角矩形 59"/>
          <p:cNvSpPr/>
          <p:nvPr/>
        </p:nvSpPr>
        <p:spPr>
          <a:xfrm>
            <a:off x="889000" y="4602020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61" name="文字方塊 60"/>
          <p:cNvSpPr txBox="1"/>
          <p:nvPr/>
        </p:nvSpPr>
        <p:spPr>
          <a:xfrm>
            <a:off x="990600" y="4678220"/>
            <a:ext cx="1955800" cy="50783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M.ME  Monitoring / eval.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圓角矩形 61"/>
          <p:cNvSpPr/>
          <p:nvPr/>
        </p:nvSpPr>
        <p:spPr>
          <a:xfrm>
            <a:off x="863600" y="5971232"/>
            <a:ext cx="2159000" cy="393700"/>
          </a:xfrm>
          <a:prstGeom prst="roundRect">
            <a:avLst/>
          </a:prstGeom>
          <a:solidFill>
            <a:srgbClr val="E5EFFA"/>
          </a:solidFill>
          <a:ln>
            <a:solidFill>
              <a:srgbClr val="1E5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63" name="文字方塊 62"/>
          <p:cNvSpPr txBox="1"/>
          <p:nvPr/>
        </p:nvSpPr>
        <p:spPr>
          <a:xfrm>
            <a:off x="965200" y="6047432"/>
            <a:ext cx="19558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 smtClean="0">
                <a:solidFill>
                  <a:srgbClr val="1E5296"/>
                </a:solidFill>
                <a:latin typeface="Calibri" panose="020F0502020204030204" pitchFamily="34" charset="0"/>
              </a:rPr>
              <a:t>M.R  Reflection</a:t>
            </a:r>
            <a:endParaRPr lang="zh-TW" altLang="en-US" sz="11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454400" y="3281220"/>
            <a:ext cx="1651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 smtClean="0">
                <a:solidFill>
                  <a:srgbClr val="368764"/>
                </a:solidFill>
                <a:latin typeface="Calibri" panose="020F0502020204030204" pitchFamily="34" charset="0"/>
              </a:rPr>
              <a:t>Cognitive</a:t>
            </a:r>
            <a:endParaRPr lang="zh-TW" altLang="en-US" sz="20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65" name="圓角矩形 64"/>
          <p:cNvSpPr/>
          <p:nvPr/>
        </p:nvSpPr>
        <p:spPr>
          <a:xfrm>
            <a:off x="3276600" y="36114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66" name="文字方塊 65"/>
          <p:cNvSpPr txBox="1"/>
          <p:nvPr/>
        </p:nvSpPr>
        <p:spPr>
          <a:xfrm>
            <a:off x="3378200" y="36876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368764"/>
                </a:solidFill>
                <a:latin typeface="Calibri" panose="020F0502020204030204" pitchFamily="34" charset="0"/>
              </a:rPr>
              <a:t>C.CUA  Conceptual Q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圓角矩形 66"/>
          <p:cNvSpPr/>
          <p:nvPr/>
        </p:nvSpPr>
        <p:spPr>
          <a:xfrm>
            <a:off x="3276600" y="41067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68" name="文字方塊 67"/>
          <p:cNvSpPr txBox="1"/>
          <p:nvPr/>
        </p:nvSpPr>
        <p:spPr>
          <a:xfrm>
            <a:off x="3378200" y="41829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368764"/>
                </a:solidFill>
                <a:latin typeface="Calibri" panose="020F0502020204030204" pitchFamily="34" charset="0"/>
              </a:rPr>
              <a:t>C.CUE  Conceptual expl.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圓角矩形 68"/>
          <p:cNvSpPr/>
          <p:nvPr/>
        </p:nvSpPr>
        <p:spPr>
          <a:xfrm>
            <a:off x="3276600" y="4602020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70" name="文字方塊 69"/>
          <p:cNvSpPr txBox="1"/>
          <p:nvPr/>
        </p:nvSpPr>
        <p:spPr>
          <a:xfrm>
            <a:off x="3378200" y="4678220"/>
            <a:ext cx="1955800" cy="29238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400" b="1" smtClean="0">
                <a:solidFill>
                  <a:srgbClr val="368764"/>
                </a:solidFill>
                <a:latin typeface="Calibri" panose="020F0502020204030204" pitchFamily="34" charset="0"/>
              </a:rPr>
              <a:t>C.PKA  Procedural Q</a:t>
            </a:r>
            <a:endParaRPr lang="zh-TW" altLang="en-US" sz="14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圓角矩形 70"/>
          <p:cNvSpPr/>
          <p:nvPr/>
        </p:nvSpPr>
        <p:spPr>
          <a:xfrm>
            <a:off x="3251200" y="5971232"/>
            <a:ext cx="2159000" cy="393700"/>
          </a:xfrm>
          <a:prstGeom prst="roundRect">
            <a:avLst/>
          </a:prstGeom>
          <a:solidFill>
            <a:srgbClr val="E7F4ED"/>
          </a:solidFill>
          <a:ln>
            <a:solidFill>
              <a:srgbClr val="3687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72" name="文字方塊 71"/>
          <p:cNvSpPr txBox="1"/>
          <p:nvPr/>
        </p:nvSpPr>
        <p:spPr>
          <a:xfrm>
            <a:off x="3352800" y="6047432"/>
            <a:ext cx="19558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 smtClean="0">
                <a:solidFill>
                  <a:srgbClr val="368764"/>
                </a:solidFill>
                <a:latin typeface="Calibri" panose="020F0502020204030204" pitchFamily="34" charset="0"/>
              </a:rPr>
              <a:t>C.PKE  Procedural exec.</a:t>
            </a:r>
            <a:endParaRPr lang="zh-TW" altLang="en-US" sz="1100" b="1">
              <a:solidFill>
                <a:srgbClr val="368764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1143000" y="5994400"/>
            <a:ext cx="9906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900" smtClean="0">
                <a:solidFill>
                  <a:srgbClr val="58606C"/>
                </a:solidFill>
                <a:latin typeface="Calibri" panose="020F0502020204030204" pitchFamily="34" charset="0"/>
              </a:rPr>
              <a:t>ENA axes: X = cognitive tendency; Y = structural complexity/diversity. Model fit indices &gt; .94.</a:t>
            </a:r>
            <a:endParaRPr lang="zh-TW" altLang="en-US" sz="9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8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/>
          <p:cNvSpPr txBox="1"/>
          <p:nvPr/>
        </p:nvSpPr>
        <p:spPr>
          <a:xfrm>
            <a:off x="330200" y="127000"/>
            <a:ext cx="1905000" cy="189796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900" b="1" smtClean="0">
                <a:solidFill>
                  <a:srgbClr val="DD8F1C"/>
                </a:solidFill>
                <a:latin typeface="Calibri" panose="020F0502020204030204" pitchFamily="34" charset="0"/>
              </a:rPr>
              <a:t>04 - METHOD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pic>
        <p:nvPicPr>
          <p:cNvPr id="80" name="圖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508000" y="711200"/>
            <a:ext cx="76200" cy="406400"/>
          </a:xfrm>
          <a:prstGeom prst="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文字方塊 81"/>
          <p:cNvSpPr txBox="1"/>
          <p:nvPr/>
        </p:nvSpPr>
        <p:spPr>
          <a:xfrm>
            <a:off x="685800" y="685800"/>
            <a:ext cx="7620000" cy="420628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2400" b="1" smtClean="0">
                <a:solidFill>
                  <a:srgbClr val="041D34"/>
                </a:solidFill>
                <a:latin typeface="Calibri" panose="020F0502020204030204" pitchFamily="34" charset="0"/>
              </a:rPr>
              <a:t>SRL Coding Framework and ENA Dimensions</a:t>
            </a:r>
            <a:endParaRPr lang="zh-TW" altLang="en-US" sz="24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711200" y="1168400"/>
            <a:ext cx="6350000" cy="205184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fr-FR" altLang="zh-TW" sz="1000" smtClean="0">
                <a:solidFill>
                  <a:srgbClr val="58606C"/>
                </a:solidFill>
                <a:latin typeface="Calibri" panose="020F0502020204030204" pitchFamily="34" charset="0"/>
              </a:rPr>
              <a:t>Table 1 - Metacognition x Cognition - 8 codes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711200" y="1528620"/>
            <a:ext cx="10769600" cy="304800"/>
          </a:xfrm>
          <a:prstGeom prst="rect">
            <a:avLst/>
          </a:prstGeom>
          <a:solidFill>
            <a:srgbClr val="2632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85" name="文字方塊 84"/>
          <p:cNvSpPr txBox="1"/>
          <p:nvPr/>
        </p:nvSpPr>
        <p:spPr>
          <a:xfrm>
            <a:off x="787400" y="1566720"/>
            <a:ext cx="1371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b="1" smtClean="0">
                <a:solidFill>
                  <a:srgbClr val="DD8F1C"/>
                </a:solidFill>
                <a:latin typeface="Calibri" panose="020F0502020204030204" pitchFamily="34" charset="0"/>
              </a:rPr>
              <a:t>Main category</a:t>
            </a:r>
            <a:endParaRPr lang="zh-TW" altLang="en-US" sz="12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2311400" y="15667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b="1" smtClean="0">
                <a:solidFill>
                  <a:srgbClr val="DD8F1C"/>
                </a:solidFill>
                <a:latin typeface="Calibri" panose="020F0502020204030204" pitchFamily="34" charset="0"/>
              </a:rPr>
              <a:t>Sub-category</a:t>
            </a:r>
            <a:endParaRPr lang="zh-TW" altLang="en-US" sz="12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4597400" y="1566720"/>
            <a:ext cx="609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b="1" smtClean="0">
                <a:solidFill>
                  <a:srgbClr val="DD8F1C"/>
                </a:solidFill>
                <a:latin typeface="Calibri" panose="020F0502020204030204" pitchFamily="34" charset="0"/>
              </a:rPr>
              <a:t>Code</a:t>
            </a:r>
            <a:endParaRPr lang="zh-TW" altLang="en-US" sz="12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359400" y="1566720"/>
            <a:ext cx="6756400" cy="212879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050" b="1" smtClean="0">
                <a:solidFill>
                  <a:srgbClr val="DD8F1C"/>
                </a:solidFill>
                <a:latin typeface="Calibri" panose="020F0502020204030204" pitchFamily="34" charset="0"/>
              </a:rPr>
              <a:t>Explanation</a:t>
            </a:r>
            <a:endParaRPr lang="zh-TW" altLang="en-US" sz="105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11200" y="1833420"/>
            <a:ext cx="10769600" cy="381000"/>
          </a:xfrm>
          <a:prstGeom prst="rect">
            <a:avLst/>
          </a:prstGeom>
          <a:solidFill>
            <a:srgbClr val="F8FA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90" name="文字方塊 89"/>
          <p:cNvSpPr txBox="1"/>
          <p:nvPr/>
        </p:nvSpPr>
        <p:spPr>
          <a:xfrm>
            <a:off x="787400" y="1884220"/>
            <a:ext cx="1371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b="1" dirty="0" smtClean="0">
                <a:solidFill>
                  <a:srgbClr val="1E5296"/>
                </a:solidFill>
                <a:latin typeface="Calibri" panose="020F0502020204030204" pitchFamily="34" charset="0"/>
              </a:rPr>
              <a:t>M  Metacognition</a:t>
            </a:r>
            <a:endParaRPr lang="zh-TW" altLang="en-US" sz="1200" b="1" dirty="0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2311400" y="1909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1C222A"/>
                </a:solidFill>
                <a:latin typeface="Calibri" panose="020F0502020204030204" pitchFamily="34" charset="0"/>
              </a:rPr>
              <a:t>Setting Goals</a:t>
            </a:r>
            <a:endParaRPr lang="zh-TW" altLang="en-US" sz="1200" dirty="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572000" y="1909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M.SG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5359400" y="1909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Proactively sets or adjusts learning objectives or sequences.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94" name="直線單箭頭接點 93"/>
          <p:cNvCxnSpPr/>
          <p:nvPr/>
        </p:nvCxnSpPr>
        <p:spPr>
          <a:xfrm>
            <a:off x="711200" y="2214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711200" y="2214420"/>
            <a:ext cx="10769600" cy="381000"/>
          </a:xfrm>
          <a:prstGeom prst="rect">
            <a:avLst/>
          </a:prstGeom>
          <a:solidFill>
            <a:srgbClr val="ED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96" name="文字方塊 95"/>
          <p:cNvSpPr txBox="1"/>
          <p:nvPr/>
        </p:nvSpPr>
        <p:spPr>
          <a:xfrm>
            <a:off x="2311400" y="2290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Selecting Strategies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4572000" y="2290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M.SS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5359400" y="2290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Selects or modifies learning strategies, modalities, or task forms.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99" name="直線單箭頭接點 98"/>
          <p:cNvCxnSpPr/>
          <p:nvPr/>
        </p:nvCxnSpPr>
        <p:spPr>
          <a:xfrm>
            <a:off x="711200" y="2595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711200" y="2595420"/>
            <a:ext cx="10769600" cy="381000"/>
          </a:xfrm>
          <a:prstGeom prst="rect">
            <a:avLst/>
          </a:prstGeom>
          <a:solidFill>
            <a:srgbClr val="F8FA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01" name="文字方塊 100"/>
          <p:cNvSpPr txBox="1"/>
          <p:nvPr/>
        </p:nvSpPr>
        <p:spPr>
          <a:xfrm>
            <a:off x="2311400" y="2671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Monitoring &amp; Evaluation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4572000" y="2671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M.ME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5359400" y="2671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Real-time awareness and evaluation of conceptual understanding.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04" name="直線單箭頭接點 103"/>
          <p:cNvCxnSpPr/>
          <p:nvPr/>
        </p:nvCxnSpPr>
        <p:spPr>
          <a:xfrm>
            <a:off x="711200" y="2976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711200" y="2976420"/>
            <a:ext cx="10769600" cy="381000"/>
          </a:xfrm>
          <a:prstGeom prst="rect">
            <a:avLst/>
          </a:prstGeom>
          <a:solidFill>
            <a:srgbClr val="ED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06" name="文字方塊 105"/>
          <p:cNvSpPr txBox="1"/>
          <p:nvPr/>
        </p:nvSpPr>
        <p:spPr>
          <a:xfrm>
            <a:off x="2311400" y="3052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Reflection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4572000" y="3052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1E5296"/>
                </a:solidFill>
                <a:latin typeface="Calibri" panose="020F0502020204030204" pitchFamily="34" charset="0"/>
              </a:rPr>
              <a:t>M.R</a:t>
            </a:r>
            <a:endParaRPr lang="zh-TW" altLang="en-US" sz="14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5359400" y="3052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Reviews problem solving to identify errors or revise strategies.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09" name="直線單箭頭接點 108"/>
          <p:cNvCxnSpPr/>
          <p:nvPr/>
        </p:nvCxnSpPr>
        <p:spPr>
          <a:xfrm>
            <a:off x="711200" y="3357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711200" y="3357420"/>
            <a:ext cx="10769600" cy="381000"/>
          </a:xfrm>
          <a:prstGeom prst="rect">
            <a:avLst/>
          </a:prstGeom>
          <a:solidFill>
            <a:srgbClr val="F8FA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11" name="文字方塊 110"/>
          <p:cNvSpPr txBox="1"/>
          <p:nvPr/>
        </p:nvSpPr>
        <p:spPr>
          <a:xfrm>
            <a:off x="787400" y="3408220"/>
            <a:ext cx="1371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b="1" smtClean="0">
                <a:solidFill>
                  <a:srgbClr val="DD8F1C"/>
                </a:solidFill>
                <a:latin typeface="Calibri" panose="020F0502020204030204" pitchFamily="34" charset="0"/>
              </a:rPr>
              <a:t>C  Cognition</a:t>
            </a:r>
            <a:endParaRPr lang="zh-TW" altLang="en-US" sz="12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311400" y="3433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Conceptual Und. Ask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4572000" y="3433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DD8F1C"/>
                </a:solidFill>
                <a:latin typeface="Calibri" panose="020F0502020204030204" pitchFamily="34" charset="0"/>
              </a:rPr>
              <a:t>C.CUA</a:t>
            </a:r>
            <a:endParaRPr lang="zh-TW" altLang="en-US" sz="14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5359400" y="3433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Asks questions about concepts, principles, meanings, or applications.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15" name="直線單箭頭接點 114"/>
          <p:cNvCxnSpPr/>
          <p:nvPr/>
        </p:nvCxnSpPr>
        <p:spPr>
          <a:xfrm>
            <a:off x="711200" y="3738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711200" y="3738420"/>
            <a:ext cx="10769600" cy="381000"/>
          </a:xfrm>
          <a:prstGeom prst="rect">
            <a:avLst/>
          </a:prstGeom>
          <a:solidFill>
            <a:srgbClr val="ED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17" name="文字方塊 116"/>
          <p:cNvSpPr txBox="1"/>
          <p:nvPr/>
        </p:nvSpPr>
        <p:spPr>
          <a:xfrm>
            <a:off x="2311400" y="3814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1C222A"/>
                </a:solidFill>
                <a:latin typeface="Calibri" panose="020F0502020204030204" pitchFamily="34" charset="0"/>
              </a:rPr>
              <a:t>Conceptual Und. Explain</a:t>
            </a:r>
            <a:endParaRPr lang="zh-TW" altLang="en-US" sz="1200" dirty="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4572000" y="3814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DD8F1C"/>
                </a:solidFill>
                <a:latin typeface="Calibri" panose="020F0502020204030204" pitchFamily="34" charset="0"/>
              </a:rPr>
              <a:t>C.CUE</a:t>
            </a:r>
            <a:endParaRPr lang="zh-TW" altLang="en-US" sz="14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5359400" y="3814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Articulates or constructs conceptual understanding.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20" name="直線單箭頭接點 119"/>
          <p:cNvCxnSpPr/>
          <p:nvPr/>
        </p:nvCxnSpPr>
        <p:spPr>
          <a:xfrm>
            <a:off x="711200" y="4119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711200" y="4119420"/>
            <a:ext cx="10769600" cy="381000"/>
          </a:xfrm>
          <a:prstGeom prst="rect">
            <a:avLst/>
          </a:prstGeom>
          <a:solidFill>
            <a:srgbClr val="F8FA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22" name="文字方塊 121"/>
          <p:cNvSpPr txBox="1"/>
          <p:nvPr/>
        </p:nvSpPr>
        <p:spPr>
          <a:xfrm>
            <a:off x="2311400" y="4195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Procedural Know. Ask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4572000" y="4195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DD8F1C"/>
                </a:solidFill>
                <a:latin typeface="Calibri" panose="020F0502020204030204" pitchFamily="34" charset="0"/>
              </a:rPr>
              <a:t>C.PKA</a:t>
            </a:r>
            <a:endParaRPr lang="zh-TW" altLang="en-US" sz="14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5359400" y="4195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Asks about computational methods or problem solving steps.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25" name="直線單箭頭接點 124"/>
          <p:cNvCxnSpPr/>
          <p:nvPr/>
        </p:nvCxnSpPr>
        <p:spPr>
          <a:xfrm>
            <a:off x="711200" y="4500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711200" y="4500420"/>
            <a:ext cx="10769600" cy="381000"/>
          </a:xfrm>
          <a:prstGeom prst="rect">
            <a:avLst/>
          </a:prstGeom>
          <a:solidFill>
            <a:srgbClr val="EDF3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/>
          </a:p>
        </p:txBody>
      </p:sp>
      <p:sp>
        <p:nvSpPr>
          <p:cNvPr id="127" name="文字方塊 126"/>
          <p:cNvSpPr txBox="1"/>
          <p:nvPr/>
        </p:nvSpPr>
        <p:spPr>
          <a:xfrm>
            <a:off x="2311400" y="4576620"/>
            <a:ext cx="21336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smtClean="0">
                <a:solidFill>
                  <a:srgbClr val="1C222A"/>
                </a:solidFill>
                <a:latin typeface="Calibri" panose="020F0502020204030204" pitchFamily="34" charset="0"/>
              </a:rPr>
              <a:t>Procedural Know. Execute</a:t>
            </a:r>
            <a:endParaRPr lang="zh-TW" altLang="en-US" sz="1200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文字方塊 127"/>
          <p:cNvSpPr txBox="1"/>
          <p:nvPr/>
        </p:nvSpPr>
        <p:spPr>
          <a:xfrm>
            <a:off x="4572000" y="4576620"/>
            <a:ext cx="660400" cy="266740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400" b="1" smtClean="0">
                <a:solidFill>
                  <a:srgbClr val="DD8F1C"/>
                </a:solidFill>
                <a:latin typeface="Calibri" panose="020F0502020204030204" pitchFamily="34" charset="0"/>
              </a:rPr>
              <a:t>C.PKE</a:t>
            </a:r>
            <a:endParaRPr lang="zh-TW" altLang="en-US" sz="14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5359400" y="4576620"/>
            <a:ext cx="6756400" cy="235962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Performs actual computations or formulates equations / answers.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cxnSp>
        <p:nvCxnSpPr>
          <p:cNvPr id="130" name="直線單箭頭接點 129"/>
          <p:cNvCxnSpPr/>
          <p:nvPr/>
        </p:nvCxnSpPr>
        <p:spPr>
          <a:xfrm>
            <a:off x="711200" y="4881420"/>
            <a:ext cx="10769600" cy="0"/>
          </a:xfrm>
          <a:prstGeom prst="straightConnector1">
            <a:avLst/>
          </a:prstGeom>
          <a:ln w="635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/>
          <p:nvPr/>
        </p:nvCxnSpPr>
        <p:spPr>
          <a:xfrm>
            <a:off x="711200" y="1528620"/>
            <a:ext cx="10769600" cy="0"/>
          </a:xfrm>
          <a:prstGeom prst="straightConnector1">
            <a:avLst/>
          </a:prstGeom>
          <a:ln w="19050">
            <a:solidFill>
              <a:srgbClr val="041D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/>
          <p:nvPr/>
        </p:nvCxnSpPr>
        <p:spPr>
          <a:xfrm>
            <a:off x="711200" y="3357420"/>
            <a:ext cx="10769600" cy="0"/>
          </a:xfrm>
          <a:prstGeom prst="straightConnector1">
            <a:avLst/>
          </a:prstGeom>
          <a:ln w="19050">
            <a:solidFill>
              <a:srgbClr val="DD8F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>
            <a:off x="711200" y="4881420"/>
            <a:ext cx="10769600" cy="0"/>
          </a:xfrm>
          <a:prstGeom prst="straightConnector1">
            <a:avLst/>
          </a:prstGeom>
          <a:ln w="19050">
            <a:solidFill>
              <a:srgbClr val="041D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/>
          <p:nvPr/>
        </p:nvCxnSpPr>
        <p:spPr>
          <a:xfrm>
            <a:off x="2235200" y="1528620"/>
            <a:ext cx="0" cy="3352800"/>
          </a:xfrm>
          <a:prstGeom prst="straightConnector1">
            <a:avLst/>
          </a:prstGeom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>
            <a:off x="4521200" y="1528620"/>
            <a:ext cx="0" cy="3352800"/>
          </a:xfrm>
          <a:prstGeom prst="straightConnector1">
            <a:avLst/>
          </a:prstGeom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>
            <a:off x="5283200" y="1528620"/>
            <a:ext cx="0" cy="3352800"/>
          </a:xfrm>
          <a:prstGeom prst="straightConnector1">
            <a:avLst/>
          </a:prstGeom>
          <a:ln w="6350">
            <a:solidFill>
              <a:srgbClr val="D2DA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圓角矩形 136"/>
          <p:cNvSpPr/>
          <p:nvPr/>
        </p:nvSpPr>
        <p:spPr>
          <a:xfrm>
            <a:off x="685800" y="5907732"/>
            <a:ext cx="10769600" cy="381000"/>
          </a:xfrm>
          <a:prstGeom prst="roundRect">
            <a:avLst/>
          </a:prstGeom>
          <a:solidFill>
            <a:srgbClr val="FFF4DA"/>
          </a:solidFill>
          <a:ln>
            <a:solidFill>
              <a:srgbClr val="DD8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138" name="文字方塊 137"/>
          <p:cNvSpPr txBox="1"/>
          <p:nvPr/>
        </p:nvSpPr>
        <p:spPr>
          <a:xfrm>
            <a:off x="838200" y="5971232"/>
            <a:ext cx="10464800" cy="212879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1050" b="1" smtClean="0">
                <a:solidFill>
                  <a:srgbClr val="041D34"/>
                </a:solidFill>
                <a:latin typeface="Calibri" panose="020F0502020204030204" pitchFamily="34" charset="0"/>
              </a:rPr>
              <a:t>ENA maps code co-occurrences into a 2D space -- X axis: relative cognitive tendencies; Y axis: structural complexity / diversity of the cognitive network.</a:t>
            </a:r>
            <a:endParaRPr lang="zh-TW" altLang="en-US" sz="105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cxnSp>
        <p:nvCxnSpPr>
          <p:cNvPr id="139" name="直線單箭頭接點 138"/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/>
          <p:cNvSpPr txBox="1"/>
          <p:nvPr/>
        </p:nvSpPr>
        <p:spPr>
          <a:xfrm>
            <a:off x="330200" y="6553200"/>
            <a:ext cx="6350000" cy="174407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10490200" y="6553200"/>
            <a:ext cx="1270000" cy="174407"/>
          </a:xfrm>
          <a:prstGeom prst="rect">
            <a:avLst/>
          </a:prstGeom>
          <a:noFill/>
        </p:spPr>
        <p:txBody>
          <a:bodyPr vert="horz" wrap="square" lIns="76200" tIns="25400" rIns="76200" bIns="254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8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2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F5A877F-EFD6-4F46-B6F7-74CA51DF40D3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33C2095-D375-40EF-93FF-68E05A3B96C9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9080625-DA5C-4484-927E-542C4ABC9C85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07 · RQ1 RESULT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E09230C5-71F7-4A95-B0E6-619181B3F4C4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TALPer-supported 4L produced higher adjusted post-test scores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B7D3EBC0-EA43-482A-BF52-320F62031511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After controlling for pre-test performance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03E88D34-90D4-4F91-8F5A-9EB12502DE2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D1126B04-B774-4B8F-BE7D-175602D46AC8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FE716035-7CAD-4DFD-9921-5BFE9BB490C9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315285B6-6697-4ECA-A298-88D40A2C17D8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8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D1A9EEBE-CB10-4712-AF5B-1F3FCEB6ABC1}"/>
              </a:ext>
            </a:extLst>
          </p:cNvPr>
          <p:cNvSpPr txBox="1"/>
          <p:nvPr/>
        </p:nvSpPr>
        <p:spPr>
          <a:xfrm>
            <a:off x="1219200" y="1676400"/>
            <a:ext cx="3302000" cy="3231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b="1">
                <a:solidFill>
                  <a:srgbClr val="58606C"/>
                </a:solidFill>
                <a:latin typeface="Calibri" panose="020F0502020204030204" pitchFamily="34" charset="0"/>
              </a:rPr>
              <a:t>Adjusted post-test means</a:t>
            </a:r>
            <a:endParaRPr lang="zh-TW" altLang="en-US" sz="1600" b="1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E2ECBC0-FF7E-4E0B-8B4F-C6324327E45C}"/>
              </a:ext>
            </a:extLst>
          </p:cNvPr>
          <p:cNvSpPr/>
          <p:nvPr/>
        </p:nvSpPr>
        <p:spPr>
          <a:xfrm>
            <a:off x="1651000" y="4254500"/>
            <a:ext cx="1524000" cy="952500"/>
          </a:xfrm>
          <a:prstGeom prst="rect">
            <a:avLst/>
          </a:prstGeom>
          <a:solidFill>
            <a:srgbClr val="5860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EB488FA-7EEF-4325-A035-52B10FDB3B8A}"/>
              </a:ext>
            </a:extLst>
          </p:cNvPr>
          <p:cNvSpPr/>
          <p:nvPr/>
        </p:nvSpPr>
        <p:spPr>
          <a:xfrm>
            <a:off x="3746500" y="3251200"/>
            <a:ext cx="1524000" cy="1955800"/>
          </a:xfrm>
          <a:prstGeom prst="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C1DE81C8-6769-49D3-A0B9-78354DAA0230}"/>
              </a:ext>
            </a:extLst>
          </p:cNvPr>
          <p:cNvSpPr txBox="1"/>
          <p:nvPr/>
        </p:nvSpPr>
        <p:spPr>
          <a:xfrm>
            <a:off x="1524000" y="5308600"/>
            <a:ext cx="1778000" cy="5539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58606C"/>
                </a:solidFill>
                <a:latin typeface="Calibri" panose="020F0502020204030204" pitchFamily="34" charset="0"/>
              </a:rPr>
              <a:t>Control</a:t>
            </a:r>
          </a:p>
          <a:p>
            <a:pPr algn="ctr"/>
            <a:r>
              <a:rPr lang="en-US" altLang="zh-TW" sz="1500" b="1">
                <a:solidFill>
                  <a:srgbClr val="58606C"/>
                </a:solidFill>
                <a:latin typeface="Calibri" panose="020F0502020204030204" pitchFamily="34" charset="0"/>
              </a:rPr>
              <a:t>76.56</a:t>
            </a:r>
            <a:endParaRPr lang="zh-TW" altLang="en-US" sz="1500" b="1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F77146C7-F54F-4289-8DC9-030AC18C36D1}"/>
              </a:ext>
            </a:extLst>
          </p:cNvPr>
          <p:cNvSpPr txBox="1"/>
          <p:nvPr/>
        </p:nvSpPr>
        <p:spPr>
          <a:xfrm>
            <a:off x="3619500" y="5308600"/>
            <a:ext cx="1778000" cy="5539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1E5296"/>
                </a:solidFill>
                <a:latin typeface="Calibri" panose="020F0502020204030204" pitchFamily="34" charset="0"/>
              </a:rPr>
              <a:t>TALPer</a:t>
            </a:r>
          </a:p>
          <a:p>
            <a:pPr algn="ctr"/>
            <a:r>
              <a:rPr lang="en-US" altLang="zh-TW" sz="1500" b="1">
                <a:solidFill>
                  <a:srgbClr val="1E5296"/>
                </a:solidFill>
                <a:latin typeface="Calibri" panose="020F0502020204030204" pitchFamily="34" charset="0"/>
              </a:rPr>
              <a:t>85.49</a:t>
            </a:r>
            <a:endParaRPr lang="zh-TW" altLang="en-US" sz="15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04005E12-303A-4078-9163-560E8588AAF3}"/>
              </a:ext>
            </a:extLst>
          </p:cNvPr>
          <p:cNvCxnSpPr/>
          <p:nvPr/>
        </p:nvCxnSpPr>
        <p:spPr>
          <a:xfrm>
            <a:off x="1270000" y="5207000"/>
            <a:ext cx="4445000" cy="0"/>
          </a:xfrm>
          <a:prstGeom prst="straightConnector1">
            <a:avLst/>
          </a:prstGeom>
          <a:ln w="16510">
            <a:solidFill>
              <a:srgbClr val="1C22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261FCA69-3F9D-458A-B1AF-E501F14614A9}"/>
              </a:ext>
            </a:extLst>
          </p:cNvPr>
          <p:cNvSpPr/>
          <p:nvPr/>
        </p:nvSpPr>
        <p:spPr>
          <a:xfrm>
            <a:off x="7112000" y="1676400"/>
            <a:ext cx="3556000" cy="31115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925ADBBB-3C7A-47E1-BB31-CC47385F8E20}"/>
              </a:ext>
            </a:extLst>
          </p:cNvPr>
          <p:cNvSpPr txBox="1"/>
          <p:nvPr/>
        </p:nvSpPr>
        <p:spPr>
          <a:xfrm>
            <a:off x="7493000" y="2032000"/>
            <a:ext cx="27940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400" b="1">
                <a:solidFill>
                  <a:srgbClr val="041D34"/>
                </a:solidFill>
                <a:latin typeface="Calibri" panose="020F0502020204030204" pitchFamily="34" charset="0"/>
              </a:rPr>
              <a:t>ANCOVA result</a:t>
            </a:r>
            <a:endParaRPr lang="zh-TW" altLang="en-US" sz="24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DEAC1551-112D-4FE0-8E45-32A64130284A}"/>
              </a:ext>
            </a:extLst>
          </p:cNvPr>
          <p:cNvSpPr txBox="1"/>
          <p:nvPr/>
        </p:nvSpPr>
        <p:spPr>
          <a:xfrm>
            <a:off x="7493000" y="2705100"/>
            <a:ext cx="2794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1C222A"/>
                </a:solidFill>
                <a:latin typeface="Calibri" panose="020F0502020204030204" pitchFamily="34" charset="0"/>
              </a:rPr>
              <a:t>F(1,41) = 4.71</a:t>
            </a:r>
            <a:endParaRPr lang="zh-TW" altLang="en-US" sz="20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9BB1EDD6-5CA2-4963-866E-2B8734F11EF1}"/>
              </a:ext>
            </a:extLst>
          </p:cNvPr>
          <p:cNvSpPr txBox="1"/>
          <p:nvPr/>
        </p:nvSpPr>
        <p:spPr>
          <a:xfrm>
            <a:off x="7493000" y="3213100"/>
            <a:ext cx="2794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1C222A"/>
                </a:solidFill>
                <a:latin typeface="Calibri" panose="020F0502020204030204" pitchFamily="34" charset="0"/>
              </a:rPr>
              <a:t>p = .036</a:t>
            </a:r>
            <a:endParaRPr lang="zh-TW" altLang="en-US" sz="20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B7EC0C85-AF6D-463E-8E4E-FB07726C92F1}"/>
              </a:ext>
            </a:extLst>
          </p:cNvPr>
          <p:cNvSpPr txBox="1"/>
          <p:nvPr/>
        </p:nvSpPr>
        <p:spPr>
          <a:xfrm>
            <a:off x="7493000" y="3721100"/>
            <a:ext cx="2794000" cy="3847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1C222A"/>
                </a:solidFill>
                <a:latin typeface="Calibri" panose="020F0502020204030204" pitchFamily="34" charset="0"/>
              </a:rPr>
              <a:t>eta squared = .114</a:t>
            </a:r>
            <a:endParaRPr lang="zh-TW" altLang="en-US" sz="2000" b="1">
              <a:solidFill>
                <a:srgbClr val="1C222A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65C11CB7-9348-497A-8C9E-49783770356E}"/>
              </a:ext>
            </a:extLst>
          </p:cNvPr>
          <p:cNvSpPr txBox="1"/>
          <p:nvPr/>
        </p:nvSpPr>
        <p:spPr>
          <a:xfrm>
            <a:off x="1574800" y="5778500"/>
            <a:ext cx="90424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DD8F1C"/>
                </a:solidFill>
                <a:latin typeface="Calibri" panose="020F0502020204030204" pitchFamily="34" charset="0"/>
              </a:rPr>
              <a:t>Takeaway: TALPer adds measurable value beyond SRL 4L instruction alone.</a:t>
            </a:r>
            <a:endParaRPr lang="zh-TW" altLang="en-US" sz="17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651000" y="6096000"/>
            <a:ext cx="5842000" cy="304800"/>
          </a:xfrm>
          <a:prstGeom prst="roundRect">
            <a:avLst/>
          </a:prstGeom>
          <a:solidFill>
            <a:srgbClr val="FFF4DA"/>
          </a:solidFill>
          <a:ln>
            <a:solidFill>
              <a:srgbClr val="DD8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1778000" y="6134100"/>
            <a:ext cx="5588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000" b="1" smtClean="0">
                <a:solidFill>
                  <a:srgbClr val="DD8F1C"/>
                </a:solidFill>
                <a:latin typeface="Calibri" panose="020F0502020204030204" pitchFamily="34" charset="0"/>
              </a:rPr>
              <a:t>Pre-post gains: Control +14.45; TALPer +26.45 (both p &lt; .001)</a:t>
            </a:r>
            <a:endParaRPr lang="zh-TW" altLang="en-US" sz="10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9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53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F14EF4D2-616A-4BC2-BBEA-823393668FC9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04127CF-F714-45BB-A13A-A50DB4A192C1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76AF39B1-DCC0-4EC6-A3E7-97CA3EF47D91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08 · RQ2 RESULT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CE37413A-3ECB-4C43-AD31-FCC7A03AAC23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High- and low-achieving students used TALPer differently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1E946CA6-9B93-4C66-AAFB-9F788349F1F5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The major difference was regulatory strategy, not tool access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C7EE675F-0531-41F4-A0D3-7E03943F6A5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20D734B7-C019-4B3E-87BA-2D7908DA9BF2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FD396A88-BE26-433A-86FF-D32FC84DA62F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41318764-886F-40A2-B156-1019FE08B2E6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9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F7C8A9EA-6E13-4113-A2AC-348A1720092E}"/>
              </a:ext>
            </a:extLst>
          </p:cNvPr>
          <p:cNvSpPr/>
          <p:nvPr/>
        </p:nvSpPr>
        <p:spPr>
          <a:xfrm>
            <a:off x="6531264" y="1687984"/>
            <a:ext cx="4635500" cy="31115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xmlns="" id="{55200DF8-E64C-42E5-9D48-12D5AC8D76C0}"/>
              </a:ext>
            </a:extLst>
          </p:cNvPr>
          <p:cNvSpPr/>
          <p:nvPr/>
        </p:nvSpPr>
        <p:spPr>
          <a:xfrm>
            <a:off x="1187450" y="1676280"/>
            <a:ext cx="4635500" cy="3111500"/>
          </a:xfrm>
          <a:prstGeom prst="roundRect">
            <a:avLst/>
          </a:prstGeom>
          <a:solidFill>
            <a:srgbClr val="BB3D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25699581-2A30-4CAB-8EF8-C1681BA8B35B}"/>
              </a:ext>
            </a:extLst>
          </p:cNvPr>
          <p:cNvSpPr txBox="1"/>
          <p:nvPr/>
        </p:nvSpPr>
        <p:spPr>
          <a:xfrm>
            <a:off x="6819900" y="2006600"/>
            <a:ext cx="40005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Calibri" panose="020F0502020204030204" pitchFamily="34" charset="0"/>
              </a:rPr>
              <a:t>Low-achieving students</a:t>
            </a:r>
            <a:endParaRPr lang="zh-TW" altLang="en-US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6730D29D-BE20-4534-9018-C28BF89C25F2}"/>
              </a:ext>
            </a:extLst>
          </p:cNvPr>
          <p:cNvSpPr txBox="1"/>
          <p:nvPr/>
        </p:nvSpPr>
        <p:spPr>
          <a:xfrm>
            <a:off x="6896100" y="2667000"/>
            <a:ext cx="3810000" cy="107721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>
                <a:solidFill>
                  <a:srgbClr val="FFFFFF"/>
                </a:solidFill>
                <a:latin typeface="Calibri" panose="020F0502020204030204" pitchFamily="34" charset="0"/>
              </a:rPr>
              <a:t>Strategy selection</a:t>
            </a:r>
          </a:p>
          <a:p>
            <a:pPr algn="ctr"/>
            <a:r>
              <a:rPr lang="en-US" altLang="zh-TW" sz="1600">
                <a:solidFill>
                  <a:srgbClr val="FFFFFF"/>
                </a:solidFill>
                <a:latin typeface="Calibri" panose="020F0502020204030204" pitchFamily="34" charset="0"/>
              </a:rPr>
              <a:t>Procedural asking</a:t>
            </a:r>
          </a:p>
          <a:p>
            <a:pPr algn="ctr"/>
            <a:r>
              <a:rPr lang="en-US" altLang="zh-TW" sz="1600">
                <a:solidFill>
                  <a:srgbClr val="FFFFFF"/>
                </a:solidFill>
                <a:latin typeface="Calibri" panose="020F0502020204030204" pitchFamily="34" charset="0"/>
              </a:rPr>
              <a:t>Answer-seeking flow</a:t>
            </a:r>
          </a:p>
          <a:p>
            <a:pPr algn="ctr"/>
            <a:r>
              <a:rPr lang="en-US" altLang="zh-TW" sz="1600">
                <a:solidFill>
                  <a:srgbClr val="FFFFFF"/>
                </a:solidFill>
                <a:latin typeface="Calibri" panose="020F0502020204030204" pitchFamily="34" charset="0"/>
              </a:rPr>
              <a:t>Limited reflection</a:t>
            </a:r>
            <a:endParaRPr lang="zh-TW" altLang="en-US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xmlns="" id="{73424EF3-5C0E-495D-BCAA-FD89C517D59B}"/>
              </a:ext>
            </a:extLst>
          </p:cNvPr>
          <p:cNvSpPr/>
          <p:nvPr/>
        </p:nvSpPr>
        <p:spPr>
          <a:xfrm>
            <a:off x="3022600" y="5270500"/>
            <a:ext cx="6146800" cy="571500"/>
          </a:xfrm>
          <a:prstGeom prst="roundRect">
            <a:avLst/>
          </a:prstGeom>
          <a:solidFill>
            <a:srgbClr val="F3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AD2CE80B-6DC8-4DFD-9C26-E715D5397664}"/>
              </a:ext>
            </a:extLst>
          </p:cNvPr>
          <p:cNvSpPr txBox="1"/>
          <p:nvPr/>
        </p:nvSpPr>
        <p:spPr>
          <a:xfrm>
            <a:off x="3276600" y="5410200"/>
            <a:ext cx="56388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fr-FR" altLang="zh-TW" sz="1700" b="1">
                <a:solidFill>
                  <a:srgbClr val="041D34"/>
                </a:solidFill>
                <a:latin typeface="Calibri" panose="020F0502020204030204" pitchFamily="34" charset="0"/>
              </a:rPr>
              <a:t>t(12.07) = 4.05 · p &lt; .001 · Cohen's d = 1.83</a:t>
            </a:r>
            <a:endParaRPr lang="zh-TW" altLang="en-US" sz="17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905000" y="5943600"/>
            <a:ext cx="8382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Experimental group only: high-achievers (n = 10) vs low-achievers (n = 11)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556000" y="6197600"/>
            <a:ext cx="5080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 dirty="0" smtClean="0">
                <a:solidFill>
                  <a:srgbClr val="58606C"/>
                </a:solidFill>
                <a:latin typeface="Calibri" panose="020F0502020204030204" pitchFamily="34" charset="0"/>
              </a:rPr>
              <a:t>Comparison: ENA X-axis centroid difference between ability groups</a:t>
            </a:r>
            <a:endParaRPr lang="zh-TW" altLang="en-US" sz="12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10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1EC24A54-0170-4FDC-977A-10EF4CF82324}"/>
              </a:ext>
            </a:extLst>
          </p:cNvPr>
          <p:cNvSpPr txBox="1"/>
          <p:nvPr/>
        </p:nvSpPr>
        <p:spPr>
          <a:xfrm>
            <a:off x="1346200" y="2006600"/>
            <a:ext cx="40005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Calibri" panose="020F0502020204030204" pitchFamily="34" charset="0"/>
              </a:rPr>
              <a:t>High-achieving students</a:t>
            </a:r>
            <a:endParaRPr lang="zh-TW" altLang="en-US" sz="22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6F10C29B-BABE-486B-B404-0B5CA4C939E5}"/>
              </a:ext>
            </a:extLst>
          </p:cNvPr>
          <p:cNvSpPr txBox="1"/>
          <p:nvPr/>
        </p:nvSpPr>
        <p:spPr>
          <a:xfrm>
            <a:off x="1422400" y="2667000"/>
            <a:ext cx="3810000" cy="107721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600" dirty="0">
                <a:solidFill>
                  <a:srgbClr val="FFFFFF"/>
                </a:solidFill>
                <a:latin typeface="Calibri" panose="020F0502020204030204" pitchFamily="34" charset="0"/>
              </a:rPr>
              <a:t>Goal setting</a:t>
            </a:r>
          </a:p>
          <a:p>
            <a:pPr algn="ctr"/>
            <a:r>
              <a:rPr lang="en-US" altLang="zh-TW" sz="1600" dirty="0">
                <a:solidFill>
                  <a:srgbClr val="FFFFFF"/>
                </a:solidFill>
                <a:latin typeface="Calibri" panose="020F0502020204030204" pitchFamily="34" charset="0"/>
              </a:rPr>
              <a:t>Conceptual questions</a:t>
            </a:r>
          </a:p>
          <a:p>
            <a:pPr algn="ctr"/>
            <a:r>
              <a:rPr lang="en-US" altLang="zh-TW" sz="1600" dirty="0">
                <a:solidFill>
                  <a:srgbClr val="FFFFFF"/>
                </a:solidFill>
                <a:latin typeface="Calibri" panose="020F0502020204030204" pitchFamily="34" charset="0"/>
              </a:rPr>
              <a:t>Monitoring and reflection</a:t>
            </a:r>
          </a:p>
          <a:p>
            <a:pPr algn="ctr"/>
            <a:r>
              <a:rPr lang="en-US" altLang="zh-TW" sz="1600" dirty="0">
                <a:solidFill>
                  <a:srgbClr val="FFFFFF"/>
                </a:solidFill>
                <a:latin typeface="Calibri" panose="020F0502020204030204" pitchFamily="34" charset="0"/>
              </a:rPr>
              <a:t>Iterative strategy use</a:t>
            </a:r>
            <a:endParaRPr lang="zh-TW" altLang="en-US" sz="160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5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DCCEA3B5-8274-4A7C-96E7-C1A034CD68C4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AABF22BD-E664-4EDC-89C1-81F69195B2F0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E4FCADF4-97D7-4D4C-930F-D5E12C9188EA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09 · RQ3 RESULT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334D41CB-78C4-427D-B197-D655B67389EA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ENA shows integrated versus fragmented cognitive networks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46900BB-1FF4-46DD-A79B-9E66F8A7BFD8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High-achievers built multidirectional cycles; low-achievers stayed procedural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C42DFC79-DEF5-49C6-BB84-EED8CBA5F57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73FC5E91-9BD6-4700-AB03-8B914B0B7D5F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D7097104-BB40-4C02-8C7F-E9980BF7B0D2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31BAE354-978A-4A16-A63D-916C9F58351A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10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66AA8F4F-81A9-41FC-8155-9ECBBA557354}"/>
              </a:ext>
            </a:extLst>
          </p:cNvPr>
          <p:cNvSpPr txBox="1"/>
          <p:nvPr/>
        </p:nvSpPr>
        <p:spPr>
          <a:xfrm>
            <a:off x="1574800" y="1574800"/>
            <a:ext cx="36068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1E5296"/>
                </a:solidFill>
                <a:latin typeface="Calibri" panose="020F0502020204030204" pitchFamily="34" charset="0"/>
              </a:rPr>
              <a:t>H: integrated and multidirectional</a:t>
            </a:r>
            <a:endParaRPr lang="zh-TW" altLang="en-US" sz="1500" b="1">
              <a:solidFill>
                <a:srgbClr val="1E529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D7A56F78-9DDC-4E54-AB8D-153432C354FF}"/>
              </a:ext>
            </a:extLst>
          </p:cNvPr>
          <p:cNvSpPr txBox="1"/>
          <p:nvPr/>
        </p:nvSpPr>
        <p:spPr>
          <a:xfrm>
            <a:off x="7239000" y="1574800"/>
            <a:ext cx="3606800" cy="30777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BB3D44"/>
                </a:solidFill>
                <a:latin typeface="Calibri" panose="020F0502020204030204" pitchFamily="34" charset="0"/>
              </a:rPr>
              <a:t>L: fragmented and procedural</a:t>
            </a:r>
            <a:endParaRPr lang="zh-TW" altLang="en-US" sz="1500" b="1">
              <a:solidFill>
                <a:srgbClr val="BB3D44"/>
              </a:solidFill>
              <a:latin typeface="Calibri" panose="020F0502020204030204" pitchFamily="34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E7105B15-E0D3-47C8-9D61-BE1E481004B5}"/>
              </a:ext>
            </a:extLst>
          </p:cNvPr>
          <p:cNvCxnSpPr/>
          <p:nvPr/>
        </p:nvCxnSpPr>
        <p:spPr>
          <a:xfrm flipV="1">
            <a:off x="2768600" y="2057400"/>
            <a:ext cx="1231900" cy="241300"/>
          </a:xfrm>
          <a:prstGeom prst="straightConnector1">
            <a:avLst/>
          </a:prstGeom>
          <a:ln w="38100">
            <a:solidFill>
              <a:srgbClr val="1E52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45DDB1E7-FB3C-441D-8288-60F4F979D5EF}"/>
              </a:ext>
            </a:extLst>
          </p:cNvPr>
          <p:cNvCxnSpPr/>
          <p:nvPr/>
        </p:nvCxnSpPr>
        <p:spPr>
          <a:xfrm>
            <a:off x="4038600" y="2108200"/>
            <a:ext cx="596900" cy="939800"/>
          </a:xfrm>
          <a:prstGeom prst="straightConnector1">
            <a:avLst/>
          </a:prstGeom>
          <a:ln w="38100">
            <a:solidFill>
              <a:srgbClr val="1E52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xmlns="" id="{32A5AD91-5E83-4A9F-8D06-D705E0AB7CB2}"/>
              </a:ext>
            </a:extLst>
          </p:cNvPr>
          <p:cNvCxnSpPr/>
          <p:nvPr/>
        </p:nvCxnSpPr>
        <p:spPr>
          <a:xfrm flipH="1">
            <a:off x="3238500" y="3149600"/>
            <a:ext cx="1168400" cy="584200"/>
          </a:xfrm>
          <a:prstGeom prst="straightConnector1">
            <a:avLst/>
          </a:prstGeom>
          <a:ln w="38100">
            <a:solidFill>
              <a:srgbClr val="1E52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410F51B1-0ADF-49B6-899F-F0130C902CF2}"/>
              </a:ext>
            </a:extLst>
          </p:cNvPr>
          <p:cNvCxnSpPr/>
          <p:nvPr/>
        </p:nvCxnSpPr>
        <p:spPr>
          <a:xfrm flipH="1" flipV="1">
            <a:off x="2400300" y="2413000"/>
            <a:ext cx="546100" cy="1219200"/>
          </a:xfrm>
          <a:prstGeom prst="straightConnector1">
            <a:avLst/>
          </a:prstGeom>
          <a:ln w="38100">
            <a:solidFill>
              <a:srgbClr val="1E52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xmlns="" id="{5D2E2BA1-51A6-41F1-847F-BC29281B1EC8}"/>
              </a:ext>
            </a:extLst>
          </p:cNvPr>
          <p:cNvCxnSpPr/>
          <p:nvPr/>
        </p:nvCxnSpPr>
        <p:spPr>
          <a:xfrm>
            <a:off x="2654300" y="2260600"/>
            <a:ext cx="1841500" cy="685800"/>
          </a:xfrm>
          <a:prstGeom prst="straightConnector1">
            <a:avLst/>
          </a:prstGeom>
          <a:ln w="25400">
            <a:solidFill>
              <a:srgbClr val="1E52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xmlns="" id="{7CEE1AD6-762C-4827-91D8-80E28CCF0E1A}"/>
              </a:ext>
            </a:extLst>
          </p:cNvPr>
          <p:cNvCxnSpPr/>
          <p:nvPr/>
        </p:nvCxnSpPr>
        <p:spPr>
          <a:xfrm>
            <a:off x="8432800" y="2336800"/>
            <a:ext cx="1003300" cy="812800"/>
          </a:xfrm>
          <a:prstGeom prst="straightConnector1">
            <a:avLst/>
          </a:prstGeom>
          <a:ln w="38100">
            <a:solidFill>
              <a:srgbClr val="BB3D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xmlns="" id="{B6A229EF-0AB3-4337-A1D5-6DD8407CCAF1}"/>
              </a:ext>
            </a:extLst>
          </p:cNvPr>
          <p:cNvCxnSpPr/>
          <p:nvPr/>
        </p:nvCxnSpPr>
        <p:spPr>
          <a:xfrm flipH="1">
            <a:off x="8432800" y="3200400"/>
            <a:ext cx="990600" cy="800100"/>
          </a:xfrm>
          <a:prstGeom prst="straightConnector1">
            <a:avLst/>
          </a:prstGeom>
          <a:ln w="25400">
            <a:solidFill>
              <a:srgbClr val="BB3D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xmlns="" id="{AF30E410-502B-448E-8FDB-C6CBEEF0602A}"/>
              </a:ext>
            </a:extLst>
          </p:cNvPr>
          <p:cNvSpPr/>
          <p:nvPr/>
        </p:nvSpPr>
        <p:spPr>
          <a:xfrm>
            <a:off x="2222500" y="2095500"/>
            <a:ext cx="787400" cy="457200"/>
          </a:xfrm>
          <a:prstGeom prst="ellipse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A535545C-40BE-4B06-9FF9-AD2547E1A53E}"/>
              </a:ext>
            </a:extLst>
          </p:cNvPr>
          <p:cNvSpPr txBox="1"/>
          <p:nvPr/>
        </p:nvSpPr>
        <p:spPr>
          <a:xfrm>
            <a:off x="2260600" y="21971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M.SG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xmlns="" id="{DE0E3187-2682-41C8-A008-801919F824DE}"/>
              </a:ext>
            </a:extLst>
          </p:cNvPr>
          <p:cNvSpPr/>
          <p:nvPr/>
        </p:nvSpPr>
        <p:spPr>
          <a:xfrm>
            <a:off x="3492500" y="1841500"/>
            <a:ext cx="787400" cy="457200"/>
          </a:xfrm>
          <a:prstGeom prst="ellipse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40CC4F39-8DB5-4046-9767-B645006188D3}"/>
              </a:ext>
            </a:extLst>
          </p:cNvPr>
          <p:cNvSpPr txBox="1"/>
          <p:nvPr/>
        </p:nvSpPr>
        <p:spPr>
          <a:xfrm>
            <a:off x="3530600" y="19431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C.CUA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xmlns="" id="{A73031EB-7186-4BE3-A7A6-65399FBA1683}"/>
              </a:ext>
            </a:extLst>
          </p:cNvPr>
          <p:cNvSpPr/>
          <p:nvPr/>
        </p:nvSpPr>
        <p:spPr>
          <a:xfrm>
            <a:off x="4381500" y="2794000"/>
            <a:ext cx="787400" cy="457200"/>
          </a:xfrm>
          <a:prstGeom prst="ellipse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BD4A4EA1-7EAA-4EB7-B38A-BD1AE4E9736C}"/>
              </a:ext>
            </a:extLst>
          </p:cNvPr>
          <p:cNvSpPr txBox="1"/>
          <p:nvPr/>
        </p:nvSpPr>
        <p:spPr>
          <a:xfrm>
            <a:off x="4419600" y="28956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C.PKE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xmlns="" id="{D93895D5-CA1A-4E86-9770-41ED755A9673}"/>
              </a:ext>
            </a:extLst>
          </p:cNvPr>
          <p:cNvSpPr/>
          <p:nvPr/>
        </p:nvSpPr>
        <p:spPr>
          <a:xfrm>
            <a:off x="2857500" y="3492500"/>
            <a:ext cx="787400" cy="457200"/>
          </a:xfrm>
          <a:prstGeom prst="ellipse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E83F88E7-8C9F-44F0-8063-BD49BF565EC0}"/>
              </a:ext>
            </a:extLst>
          </p:cNvPr>
          <p:cNvSpPr txBox="1"/>
          <p:nvPr/>
        </p:nvSpPr>
        <p:spPr>
          <a:xfrm>
            <a:off x="2895600" y="35941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M.R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xmlns="" id="{E8A20D7B-A2BD-44FB-805D-363F528BEB8C}"/>
              </a:ext>
            </a:extLst>
          </p:cNvPr>
          <p:cNvSpPr/>
          <p:nvPr/>
        </p:nvSpPr>
        <p:spPr>
          <a:xfrm>
            <a:off x="7937500" y="2095500"/>
            <a:ext cx="787400" cy="457200"/>
          </a:xfrm>
          <a:prstGeom prst="ellipse">
            <a:avLst/>
          </a:prstGeom>
          <a:solidFill>
            <a:srgbClr val="BB3D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EBBFE6B2-6DE7-4B63-8287-C5553A91F1DD}"/>
              </a:ext>
            </a:extLst>
          </p:cNvPr>
          <p:cNvSpPr txBox="1"/>
          <p:nvPr/>
        </p:nvSpPr>
        <p:spPr>
          <a:xfrm>
            <a:off x="7975600" y="21971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M.SS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xmlns="" id="{17D729C6-8C9B-4FF6-97F5-CFFEC7AE6404}"/>
              </a:ext>
            </a:extLst>
          </p:cNvPr>
          <p:cNvSpPr/>
          <p:nvPr/>
        </p:nvSpPr>
        <p:spPr>
          <a:xfrm>
            <a:off x="9207500" y="2921000"/>
            <a:ext cx="787400" cy="457200"/>
          </a:xfrm>
          <a:prstGeom prst="ellipse">
            <a:avLst/>
          </a:prstGeom>
          <a:solidFill>
            <a:srgbClr val="BB3D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DEFE8FAA-D0B1-41C7-81B7-67D9F220378D}"/>
              </a:ext>
            </a:extLst>
          </p:cNvPr>
          <p:cNvSpPr txBox="1"/>
          <p:nvPr/>
        </p:nvSpPr>
        <p:spPr>
          <a:xfrm>
            <a:off x="9245600" y="30226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C.PKA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xmlns="" id="{3FF33F3D-FB1A-425D-96F1-B4EF65EC9DA0}"/>
              </a:ext>
            </a:extLst>
          </p:cNvPr>
          <p:cNvSpPr/>
          <p:nvPr/>
        </p:nvSpPr>
        <p:spPr>
          <a:xfrm>
            <a:off x="7937500" y="3810000"/>
            <a:ext cx="787400" cy="457200"/>
          </a:xfrm>
          <a:prstGeom prst="ellipse">
            <a:avLst/>
          </a:prstGeom>
          <a:solidFill>
            <a:srgbClr val="BB3D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10DEA456-4E8F-4451-825B-F5594C8ACBC7}"/>
              </a:ext>
            </a:extLst>
          </p:cNvPr>
          <p:cNvSpPr txBox="1"/>
          <p:nvPr/>
        </p:nvSpPr>
        <p:spPr>
          <a:xfrm>
            <a:off x="7975600" y="3911600"/>
            <a:ext cx="7112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Calibri" panose="020F0502020204030204" pitchFamily="34" charset="0"/>
              </a:rPr>
              <a:t>C.PKE</a:t>
            </a:r>
            <a:endParaRPr lang="zh-TW" altLang="en-US" sz="1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81A378E3-D387-403B-B218-95EAB2D9209C}"/>
              </a:ext>
            </a:extLst>
          </p:cNvPr>
          <p:cNvSpPr txBox="1"/>
          <p:nvPr/>
        </p:nvSpPr>
        <p:spPr>
          <a:xfrm>
            <a:off x="1270000" y="4902200"/>
            <a:ext cx="4191000" cy="5539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041D34"/>
                </a:solidFill>
                <a:latin typeface="Calibri" panose="020F0502020204030204" pitchFamily="34" charset="0"/>
              </a:rPr>
              <a:t>High-achievers connect planning, conceptual inquiry, execution, and reflection.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xmlns="" id="{D6511568-C93F-4FCD-9F20-1A656FFF28BF}"/>
              </a:ext>
            </a:extLst>
          </p:cNvPr>
          <p:cNvSpPr txBox="1"/>
          <p:nvPr/>
        </p:nvSpPr>
        <p:spPr>
          <a:xfrm>
            <a:off x="6858000" y="4902200"/>
            <a:ext cx="4191000" cy="553998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500" b="1">
                <a:solidFill>
                  <a:srgbClr val="041D34"/>
                </a:solidFill>
                <a:latin typeface="Calibri" panose="020F0502020204030204" pitchFamily="34" charset="0"/>
              </a:rPr>
              <a:t>Low-achievers remain closer to ask-receive-execute procedural cycles.</a:t>
            </a:r>
            <a:endParaRPr lang="zh-TW" altLang="en-US" sz="15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E562FBCE-531A-4A8D-ABC5-837A04772D80}"/>
              </a:ext>
            </a:extLst>
          </p:cNvPr>
          <p:cNvSpPr/>
          <p:nvPr/>
        </p:nvSpPr>
        <p:spPr>
          <a:xfrm>
            <a:off x="304800" y="1498600"/>
            <a:ext cx="11582400" cy="4851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D1CEA0A6-C723-4E28-A150-AE1D98F65D32}"/>
              </a:ext>
            </a:extLst>
          </p:cNvPr>
          <p:cNvSpPr txBox="1"/>
          <p:nvPr/>
        </p:nvSpPr>
        <p:spPr>
          <a:xfrm>
            <a:off x="685800" y="1549400"/>
            <a:ext cx="10795000" cy="353943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b="1">
                <a:solidFill>
                  <a:srgbClr val="041D34"/>
                </a:solidFill>
                <a:latin typeface="Calibri" panose="020F0502020204030204" pitchFamily="34" charset="0"/>
              </a:rPr>
              <a:t>Original ENA result figure from the source deck</a:t>
            </a:r>
            <a:endParaRPr lang="zh-TW" altLang="en-US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xmlns="" id="{CB03B620-B17A-4190-A31E-8C1C675289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68500"/>
            <a:ext cx="5778500" cy="4191000"/>
          </a:xfrm>
          <a:prstGeom prst="rect">
            <a:avLst/>
          </a:prstGeom>
        </p:spPr>
      </p:pic>
      <p:grpSp>
        <p:nvGrpSpPr>
          <p:cNvPr id="57" name="群組 56"/>
          <p:cNvGrpSpPr/>
          <p:nvPr/>
        </p:nvGrpSpPr>
        <p:grpSpPr>
          <a:xfrm>
            <a:off x="7493000" y="3300512"/>
            <a:ext cx="3556000" cy="1041400"/>
            <a:chOff x="7493000" y="3591183"/>
            <a:chExt cx="3556000" cy="1041400"/>
          </a:xfrm>
        </p:grpSpPr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xmlns="" id="{1F883A53-51DC-414A-9A80-723A0F8137B2}"/>
                </a:ext>
              </a:extLst>
            </p:cNvPr>
            <p:cNvSpPr/>
            <p:nvPr/>
          </p:nvSpPr>
          <p:spPr>
            <a:xfrm>
              <a:off x="7493000" y="3591183"/>
              <a:ext cx="3556000" cy="1041400"/>
            </a:xfrm>
            <a:prstGeom prst="roundRect">
              <a:avLst/>
            </a:prstGeom>
            <a:solidFill>
              <a:srgbClr val="1E529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xmlns="" id="{D0571728-8885-49DA-9240-2EBF3862D154}"/>
                </a:ext>
              </a:extLst>
            </p:cNvPr>
            <p:cNvSpPr txBox="1"/>
            <p:nvPr/>
          </p:nvSpPr>
          <p:spPr>
            <a:xfrm>
              <a:off x="7747000" y="3822700"/>
              <a:ext cx="3048000" cy="584775"/>
            </a:xfrm>
            <a:prstGeom prst="rect">
              <a:avLst/>
            </a:prstGeom>
            <a:noFill/>
          </p:spPr>
          <p:txBody>
            <a:bodyPr vert="horz" lIns="76200" tIns="38100" rIns="76200" bIns="38100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L: fragmented, procedural, ask-execute pattern</a:t>
              </a:r>
              <a:endParaRPr lang="zh-TW" altLang="en-US" sz="16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xmlns="" id="{E57A9EA8-23A1-454E-A891-71A0CF304BF0}"/>
              </a:ext>
            </a:extLst>
          </p:cNvPr>
          <p:cNvSpPr txBox="1"/>
          <p:nvPr/>
        </p:nvSpPr>
        <p:spPr>
          <a:xfrm>
            <a:off x="7346950" y="4428822"/>
            <a:ext cx="35560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dirty="0">
                <a:solidFill>
                  <a:srgbClr val="58606C"/>
                </a:solidFill>
                <a:latin typeface="Calibri" panose="020F0502020204030204" pitchFamily="34" charset="0"/>
              </a:rPr>
              <a:t>The simplified editable schematic from v3 has been replaced by the original ENA evidence figure.</a:t>
            </a:r>
            <a:endParaRPr lang="zh-TW" altLang="en-US" sz="1100" dirty="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11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grpSp>
        <p:nvGrpSpPr>
          <p:cNvPr id="58" name="群組 57"/>
          <p:cNvGrpSpPr/>
          <p:nvPr/>
        </p:nvGrpSpPr>
        <p:grpSpPr>
          <a:xfrm>
            <a:off x="7493000" y="2112090"/>
            <a:ext cx="3556000" cy="1041400"/>
            <a:chOff x="7493000" y="2112090"/>
            <a:chExt cx="3556000" cy="1041400"/>
          </a:xfrm>
        </p:grpSpPr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xmlns="" id="{AB59BDBC-C571-420D-837B-0A7313EFCFA8}"/>
                </a:ext>
              </a:extLst>
            </p:cNvPr>
            <p:cNvSpPr/>
            <p:nvPr/>
          </p:nvSpPr>
          <p:spPr>
            <a:xfrm>
              <a:off x="7493000" y="2112090"/>
              <a:ext cx="3556000" cy="1041400"/>
            </a:xfrm>
            <a:prstGeom prst="roundRect">
              <a:avLst/>
            </a:prstGeom>
            <a:solidFill>
              <a:srgbClr val="BB3D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xmlns="" id="{5ABA8363-B928-418C-BFDD-270E3A465B34}"/>
                </a:ext>
              </a:extLst>
            </p:cNvPr>
            <p:cNvSpPr txBox="1"/>
            <p:nvPr/>
          </p:nvSpPr>
          <p:spPr>
            <a:xfrm>
              <a:off x="7747000" y="2336800"/>
              <a:ext cx="3048000" cy="584775"/>
            </a:xfrm>
            <a:prstGeom prst="rect">
              <a:avLst/>
            </a:prstGeom>
            <a:noFill/>
          </p:spPr>
          <p:txBody>
            <a:bodyPr vert="horz" lIns="76200" tIns="38100" rIns="76200" bIns="38100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H: integrated, multidirectional regulatory network</a:t>
              </a:r>
              <a:endParaRPr lang="zh-TW" altLang="en-US" sz="16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673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3F5FDB7-EA57-4619-AEB0-12BF177CD1A4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9055DC7B-C0DF-4A3C-8B45-A9AF9FF33A50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6EC32B75-E184-4AD7-A740-047990C6F71F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10 · IMPLICATION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39059A52-6D83-4AF6-BD05-E42A47FEBD80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Teachers need to teach students how to regulate with AI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B0245D5F-35A3-4D08-84BB-220002FED9AA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Availability is not enough; strategic engagement must be scaffolded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56C2C3D2-A75B-40ED-AF45-8E108A751D7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720E0BAE-BF5E-482F-AF2D-0F895C7FA921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6D1D310-C2AB-43A7-B723-87772F1FDA1D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D91F6987-77AB-4983-B8E4-1C79550F1534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11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0F0305CA-5BA6-44A0-BD39-6AC9AFB2AE02}"/>
              </a:ext>
            </a:extLst>
          </p:cNvPr>
          <p:cNvSpPr txBox="1"/>
          <p:nvPr/>
        </p:nvSpPr>
        <p:spPr>
          <a:xfrm>
            <a:off x="1600200" y="1574800"/>
            <a:ext cx="8991600" cy="83099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400" b="1">
                <a:solidFill>
                  <a:srgbClr val="041D34"/>
                </a:solidFill>
                <a:latin typeface="Calibri" panose="020F0502020204030204" pitchFamily="34" charset="0"/>
              </a:rPr>
              <a:t>TALPer's pedagogical effectiveness cannot be assumed from tool availability alone.</a:t>
            </a:r>
            <a:endParaRPr lang="zh-TW" altLang="en-US" sz="24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xmlns="" id="{A1CCEF96-AF4F-4195-98FF-BF0749174133}"/>
              </a:ext>
            </a:extLst>
          </p:cNvPr>
          <p:cNvSpPr/>
          <p:nvPr/>
        </p:nvSpPr>
        <p:spPr>
          <a:xfrm>
            <a:off x="1524000" y="3111500"/>
            <a:ext cx="2413000" cy="1714500"/>
          </a:xfrm>
          <a:prstGeom prst="roundRect">
            <a:avLst/>
          </a:prstGeom>
          <a:solidFill>
            <a:srgbClr val="1E52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67F31175-E5FA-4950-BFD6-D2F1714DF53C}"/>
              </a:ext>
            </a:extLst>
          </p:cNvPr>
          <p:cNvSpPr txBox="1"/>
          <p:nvPr/>
        </p:nvSpPr>
        <p:spPr>
          <a:xfrm>
            <a:off x="1676400" y="3390900"/>
            <a:ext cx="21082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Guided questioning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F1F2164E-5268-4150-9392-F7D6EEC46688}"/>
              </a:ext>
            </a:extLst>
          </p:cNvPr>
          <p:cNvSpPr txBox="1"/>
          <p:nvPr/>
        </p:nvSpPr>
        <p:spPr>
          <a:xfrm>
            <a:off x="1727200" y="4000500"/>
            <a:ext cx="2006600" cy="60016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Model how to ask conceptual questions, not only request answers.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xmlns="" id="{257ED8D7-3ADF-4033-8A42-13F624351E9A}"/>
              </a:ext>
            </a:extLst>
          </p:cNvPr>
          <p:cNvSpPr/>
          <p:nvPr/>
        </p:nvSpPr>
        <p:spPr>
          <a:xfrm>
            <a:off x="4889500" y="3111500"/>
            <a:ext cx="2413000" cy="1714500"/>
          </a:xfrm>
          <a:prstGeom prst="roundRect">
            <a:avLst/>
          </a:prstGeom>
          <a:solidFill>
            <a:srgbClr val="3687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9CF7423F-6852-483B-B504-65961C673ADB}"/>
              </a:ext>
            </a:extLst>
          </p:cNvPr>
          <p:cNvSpPr txBox="1"/>
          <p:nvPr/>
        </p:nvSpPr>
        <p:spPr>
          <a:xfrm>
            <a:off x="5041900" y="3390900"/>
            <a:ext cx="21082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Structured reflection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EFCA055F-7C31-4586-8E61-24A35118CBF7}"/>
              </a:ext>
            </a:extLst>
          </p:cNvPr>
          <p:cNvSpPr txBox="1"/>
          <p:nvPr/>
        </p:nvSpPr>
        <p:spPr>
          <a:xfrm>
            <a:off x="5092700" y="4000500"/>
            <a:ext cx="20066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Use prompts that make students check, explain, and revise.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xmlns="" id="{48BE6387-FBAA-4289-83AD-52F9D0BB8A07}"/>
              </a:ext>
            </a:extLst>
          </p:cNvPr>
          <p:cNvSpPr/>
          <p:nvPr/>
        </p:nvSpPr>
        <p:spPr>
          <a:xfrm>
            <a:off x="8255000" y="3111500"/>
            <a:ext cx="2413000" cy="1714500"/>
          </a:xfrm>
          <a:prstGeom prst="round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9EDC87E9-D8CB-473E-9906-A167533CAEB2}"/>
              </a:ext>
            </a:extLst>
          </p:cNvPr>
          <p:cNvSpPr txBox="1"/>
          <p:nvPr/>
        </p:nvSpPr>
        <p:spPr>
          <a:xfrm>
            <a:off x="8407400" y="3390900"/>
            <a:ext cx="2108200" cy="33855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700" b="1">
                <a:solidFill>
                  <a:srgbClr val="FFFFFF"/>
                </a:solidFill>
                <a:latin typeface="Calibri" panose="020F0502020204030204" pitchFamily="34" charset="0"/>
              </a:rPr>
              <a:t>Dialogue modeling</a:t>
            </a:r>
            <a:endParaRPr lang="zh-TW" alt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2D050CD0-9C8C-49D7-A50C-AF1993F005D3}"/>
              </a:ext>
            </a:extLst>
          </p:cNvPr>
          <p:cNvSpPr txBox="1"/>
          <p:nvPr/>
        </p:nvSpPr>
        <p:spPr>
          <a:xfrm>
            <a:off x="8458200" y="4000500"/>
            <a:ext cx="2006600" cy="4308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>
                <a:solidFill>
                  <a:srgbClr val="FFFFFF"/>
                </a:solidFill>
                <a:latin typeface="Calibri" panose="020F0502020204030204" pitchFamily="34" charset="0"/>
              </a:rPr>
              <a:t>Show examples of productive TALPer-mediated dialogue.</a:t>
            </a:r>
            <a:endParaRPr lang="zh-TW" altLang="en-US" sz="1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270000" y="5334000"/>
            <a:ext cx="9652000" cy="246221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100" b="1" smtClean="0">
                <a:solidFill>
                  <a:srgbClr val="BB3D44"/>
                </a:solidFill>
                <a:latin typeface="Calibri" panose="020F0502020204030204" pitchFamily="34" charset="0"/>
              </a:rPr>
              <a:t>These supports are especially critical for low-achieving students who tend toward procedural dependence.</a:t>
            </a:r>
            <a:endParaRPr lang="zh-TW" altLang="en-US" sz="1100" b="1">
              <a:solidFill>
                <a:srgbClr val="BB3D44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651000" y="5638800"/>
            <a:ext cx="8890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000" smtClean="0">
                <a:solidFill>
                  <a:srgbClr val="58606C"/>
                </a:solidFill>
                <a:latin typeface="Calibri" panose="020F0502020204030204" pitchFamily="34" charset="0"/>
              </a:rPr>
              <a:t>AI feedback should invite explanation, comparison, and reflection.</a:t>
            </a:r>
            <a:endParaRPr lang="zh-TW" altLang="en-US" sz="10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12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6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C2B0ABC4-3346-46CA-89D6-B26E6AA91CBA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BDB939C-E5E5-442F-A17D-672F7923E632}"/>
              </a:ext>
            </a:extLst>
          </p:cNvPr>
          <p:cNvSpPr/>
          <p:nvPr/>
        </p:nvSpPr>
        <p:spPr>
          <a:xfrm>
            <a:off x="0" y="558800"/>
            <a:ext cx="12192000" cy="50800"/>
          </a:xfrm>
          <a:prstGeom prst="rect">
            <a:avLst/>
          </a:prstGeom>
          <a:solidFill>
            <a:srgbClr val="DD8F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6F854146-643F-4824-871E-EA2A5B2F2784}"/>
              </a:ext>
            </a:extLst>
          </p:cNvPr>
          <p:cNvSpPr txBox="1"/>
          <p:nvPr/>
        </p:nvSpPr>
        <p:spPr>
          <a:xfrm>
            <a:off x="330200" y="127000"/>
            <a:ext cx="1905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900" b="1">
                <a:solidFill>
                  <a:srgbClr val="DD8F1C"/>
                </a:solidFill>
                <a:latin typeface="Calibri" panose="020F0502020204030204" pitchFamily="34" charset="0"/>
              </a:rPr>
              <a:t>11 · CLOSING</a:t>
            </a:r>
            <a:endParaRPr lang="zh-TW" altLang="en-US" sz="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55647C6F-BCD0-4711-AA6A-F51C459A4388}"/>
              </a:ext>
            </a:extLst>
          </p:cNvPr>
          <p:cNvSpPr txBox="1"/>
          <p:nvPr/>
        </p:nvSpPr>
        <p:spPr>
          <a:xfrm>
            <a:off x="2311400" y="88900"/>
            <a:ext cx="8255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900" b="1">
                <a:solidFill>
                  <a:srgbClr val="FFFFFF"/>
                </a:solidFill>
                <a:latin typeface="Calibri" panose="020F0502020204030204" pitchFamily="34" charset="0"/>
              </a:rPr>
              <a:t>Take-home: AI scaffolding depends on regulatory awareness</a:t>
            </a:r>
            <a:endParaRPr lang="zh-TW" altLang="en-US" sz="19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D88459EE-8284-4E3E-BC26-5F6C5BA3B1D8}"/>
              </a:ext>
            </a:extLst>
          </p:cNvPr>
          <p:cNvSpPr txBox="1"/>
          <p:nvPr/>
        </p:nvSpPr>
        <p:spPr>
          <a:xfrm>
            <a:off x="330200" y="736600"/>
            <a:ext cx="10287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Thank you. Questions and discussion welcome.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D9775571-9F5C-4723-A19D-653DC41DA0A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685800"/>
            <a:ext cx="558800" cy="78740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9F5D5CCB-F3DF-4331-B395-349D2AC04A4F}"/>
              </a:ext>
            </a:extLst>
          </p:cNvPr>
          <p:cNvCxnSpPr/>
          <p:nvPr/>
        </p:nvCxnSpPr>
        <p:spPr>
          <a:xfrm>
            <a:off x="330200" y="6451600"/>
            <a:ext cx="11531600" cy="0"/>
          </a:xfrm>
          <a:prstGeom prst="straightConnector1">
            <a:avLst/>
          </a:prstGeom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EC159434-9D09-48E1-8BDB-8A13F5B7E91A}"/>
              </a:ext>
            </a:extLst>
          </p:cNvPr>
          <p:cNvSpPr txBox="1"/>
          <p:nvPr/>
        </p:nvSpPr>
        <p:spPr>
          <a:xfrm>
            <a:off x="330200" y="6553200"/>
            <a:ext cx="635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TALPer x SRL 4L Framework | Kuo, Bai, &amp; Lin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7E9A1909-1226-4AEF-BAA8-97EA22967E03}"/>
              </a:ext>
            </a:extLst>
          </p:cNvPr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>
                <a:solidFill>
                  <a:srgbClr val="58606C"/>
                </a:solidFill>
                <a:latin typeface="Calibri" panose="020F0502020204030204" pitchFamily="34" charset="0"/>
              </a:rPr>
              <a:t>12 / 12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xmlns="" id="{BFD241E5-AC7D-4EBC-A928-47CF92A4358F}"/>
              </a:ext>
            </a:extLst>
          </p:cNvPr>
          <p:cNvSpPr/>
          <p:nvPr/>
        </p:nvSpPr>
        <p:spPr>
          <a:xfrm>
            <a:off x="1333500" y="1778000"/>
            <a:ext cx="9525000" cy="1905000"/>
          </a:xfrm>
          <a:prstGeom prst="roundRect">
            <a:avLst/>
          </a:prstGeom>
          <a:solidFill>
            <a:srgbClr val="041D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F1B071E5-AE4B-4F55-9B26-79902EA9A19C}"/>
              </a:ext>
            </a:extLst>
          </p:cNvPr>
          <p:cNvSpPr txBox="1"/>
          <p:nvPr/>
        </p:nvSpPr>
        <p:spPr>
          <a:xfrm>
            <a:off x="1651000" y="2095500"/>
            <a:ext cx="8890000" cy="569387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3100" b="1">
                <a:solidFill>
                  <a:srgbClr val="FFFFFF"/>
                </a:solidFill>
                <a:latin typeface="Calibri" panose="020F0502020204030204" pitchFamily="34" charset="0"/>
              </a:rPr>
              <a:t>An AI learning companion is not a silver bullet.</a:t>
            </a:r>
            <a:endParaRPr lang="zh-TW" altLang="en-US" sz="31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50D2B399-2F75-44BB-9D02-AF85DC680D3B}"/>
              </a:ext>
            </a:extLst>
          </p:cNvPr>
          <p:cNvSpPr txBox="1"/>
          <p:nvPr/>
        </p:nvSpPr>
        <p:spPr>
          <a:xfrm>
            <a:off x="1905000" y="2946400"/>
            <a:ext cx="8382000" cy="3693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900" b="1">
                <a:solidFill>
                  <a:srgbClr val="DD8F1C"/>
                </a:solidFill>
                <a:latin typeface="Calibri" panose="020F0502020204030204" pitchFamily="34" charset="0"/>
              </a:rPr>
              <a:t>Its scaffolding effect depends on learners' regulatory awareness.</a:t>
            </a:r>
            <a:endParaRPr lang="zh-TW" altLang="en-US" sz="1900" b="1">
              <a:solidFill>
                <a:srgbClr val="DD8F1C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912A4DD2-B735-433C-8727-B1D3DB24C19A}"/>
              </a:ext>
            </a:extLst>
          </p:cNvPr>
          <p:cNvSpPr txBox="1"/>
          <p:nvPr/>
        </p:nvSpPr>
        <p:spPr>
          <a:xfrm>
            <a:off x="2413000" y="4254500"/>
            <a:ext cx="7366000" cy="46166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2400" b="1">
                <a:solidFill>
                  <a:srgbClr val="041D34"/>
                </a:solidFill>
                <a:latin typeface="Calibri" panose="020F0502020204030204" pitchFamily="34" charset="0"/>
              </a:rPr>
              <a:t>Thank you. Questions and discussion welcome.</a:t>
            </a:r>
            <a:endParaRPr lang="zh-TW" altLang="en-US" sz="2400" b="1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2E6EF348-DDFC-4771-8923-08CBEF68F296}"/>
              </a:ext>
            </a:extLst>
          </p:cNvPr>
          <p:cNvSpPr txBox="1"/>
          <p:nvPr/>
        </p:nvSpPr>
        <p:spPr>
          <a:xfrm>
            <a:off x="3111500" y="4978400"/>
            <a:ext cx="5969000" cy="261610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200">
                <a:solidFill>
                  <a:srgbClr val="58606C"/>
                </a:solidFill>
                <a:latin typeface="Calibri" panose="020F0502020204030204" pitchFamily="34" charset="0"/>
              </a:rPr>
              <a:t>Bor-Chen Kuo · Zong-En Bai · Chia-Hua Lin | NTCU, Taiwan</a:t>
            </a:r>
            <a:endParaRPr lang="zh-TW" altLang="en-US" sz="12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270000" y="5461000"/>
            <a:ext cx="9652000" cy="230832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1000" smtClean="0">
                <a:solidFill>
                  <a:srgbClr val="041D34"/>
                </a:solidFill>
                <a:latin typeface="Calibri" panose="020F0502020204030204" pitchFamily="34" charset="0"/>
              </a:rPr>
              <a:t>Future work: scaffold regulatory awareness for low-achieving students; test long-term use across math domains.</a:t>
            </a:r>
            <a:endParaRPr lang="zh-TW" altLang="en-US" sz="1000">
              <a:solidFill>
                <a:srgbClr val="041D34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540000" y="5765800"/>
            <a:ext cx="7112000" cy="215444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ctr"/>
            <a:r>
              <a:rPr lang="en-US" altLang="zh-TW" sz="900" smtClean="0">
                <a:solidFill>
                  <a:srgbClr val="58606C"/>
                </a:solidFill>
                <a:latin typeface="Calibri" panose="020F0502020204030204" pitchFamily="34" charset="0"/>
              </a:rPr>
              <a:t>Limitations: small sample (n = 44); longer-term studies needed.</a:t>
            </a:r>
            <a:endParaRPr lang="zh-TW" altLang="en-US" sz="9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287000" y="65024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10490200" y="6553200"/>
            <a:ext cx="1270000" cy="200055"/>
          </a:xfrm>
          <a:prstGeom prst="rect">
            <a:avLst/>
          </a:prstGeom>
          <a:noFill/>
        </p:spPr>
        <p:txBody>
          <a:bodyPr vert="horz" lIns="76200" tIns="38100" rIns="76200" bIns="38100" rtlCol="0">
            <a:spAutoFit/>
          </a:bodyPr>
          <a:lstStyle/>
          <a:p>
            <a:pPr algn="r"/>
            <a:r>
              <a:rPr lang="en-US" altLang="zh-TW" sz="800" smtClean="0">
                <a:solidFill>
                  <a:srgbClr val="58606C"/>
                </a:solidFill>
                <a:latin typeface="Calibri" panose="020F0502020204030204" pitchFamily="34" charset="0"/>
              </a:rPr>
              <a:t>13 / 13</a:t>
            </a:r>
            <a:endParaRPr lang="zh-TW" altLang="en-US" sz="800">
              <a:solidFill>
                <a:srgbClr val="5860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79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1679</Words>
  <Application>Microsoft Office PowerPoint</Application>
  <PresentationFormat>寬螢幕</PresentationFormat>
  <Paragraphs>296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bai</dc:creator>
  <cp:lastModifiedBy>bai2</cp:lastModifiedBy>
  <cp:revision>9</cp:revision>
  <dcterms:created xsi:type="dcterms:W3CDTF">2026-06-05T14:05:25Z</dcterms:created>
  <dcterms:modified xsi:type="dcterms:W3CDTF">2026-06-09T00:10:45Z</dcterms:modified>
</cp:coreProperties>
</file>